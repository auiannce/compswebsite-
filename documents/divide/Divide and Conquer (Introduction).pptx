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Anton" charset="1" panose="00000500000000000000"/>
      <p:regular r:id="rId22"/>
    </p:embeddedFont>
    <p:embeddedFont>
      <p:font typeface="Open Sauce" charset="1" panose="00000500000000000000"/>
      <p:regular r:id="rId23"/>
    </p:embeddedFont>
    <p:embeddedFont>
      <p:font typeface="Canva Sans" charset="1" panose="020B0503030501040103"/>
      <p:regular r:id="rId24"/>
    </p:embeddedFont>
    <p:embeddedFont>
      <p:font typeface="Canva Sans Bold" charset="1" panose="020B0803030501040103"/>
      <p:regular r:id="rId25"/>
    </p:embeddedFont>
    <p:embeddedFont>
      <p:font typeface="Canva Sans Bold Italics" charset="1" panose="020B08030305010401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30004" y="8624986"/>
            <a:ext cx="3835296" cy="1172410"/>
            <a:chOff x="0" y="0"/>
            <a:chExt cx="1010119" cy="308783"/>
          </a:xfrm>
        </p:grpSpPr>
        <p:sp>
          <p:nvSpPr>
            <p:cNvPr name="Freeform 3" id="3"/>
            <p:cNvSpPr/>
            <p:nvPr/>
          </p:nvSpPr>
          <p:spPr>
            <a:xfrm flipH="false" flipV="false" rot="0">
              <a:off x="0" y="0"/>
              <a:ext cx="1010119" cy="308783"/>
            </a:xfrm>
            <a:custGeom>
              <a:avLst/>
              <a:gdLst/>
              <a:ahLst/>
              <a:cxnLst/>
              <a:rect r="r" b="b" t="t" l="l"/>
              <a:pathLst>
                <a:path h="308783" w="1010119">
                  <a:moveTo>
                    <a:pt x="54502" y="0"/>
                  </a:moveTo>
                  <a:lnTo>
                    <a:pt x="955617" y="0"/>
                  </a:lnTo>
                  <a:cubicBezTo>
                    <a:pt x="970072" y="0"/>
                    <a:pt x="983935" y="5742"/>
                    <a:pt x="994156" y="15963"/>
                  </a:cubicBezTo>
                  <a:cubicBezTo>
                    <a:pt x="1004377" y="26184"/>
                    <a:pt x="1010119" y="40047"/>
                    <a:pt x="1010119" y="54502"/>
                  </a:cubicBezTo>
                  <a:lnTo>
                    <a:pt x="1010119" y="254281"/>
                  </a:lnTo>
                  <a:cubicBezTo>
                    <a:pt x="1010119" y="268736"/>
                    <a:pt x="1004377" y="282598"/>
                    <a:pt x="994156" y="292820"/>
                  </a:cubicBezTo>
                  <a:cubicBezTo>
                    <a:pt x="983935" y="303041"/>
                    <a:pt x="970072" y="308783"/>
                    <a:pt x="955617" y="308783"/>
                  </a:cubicBezTo>
                  <a:lnTo>
                    <a:pt x="54502" y="308783"/>
                  </a:lnTo>
                  <a:cubicBezTo>
                    <a:pt x="40047" y="308783"/>
                    <a:pt x="26184" y="303041"/>
                    <a:pt x="15963" y="292820"/>
                  </a:cubicBezTo>
                  <a:cubicBezTo>
                    <a:pt x="5742" y="282598"/>
                    <a:pt x="0" y="268736"/>
                    <a:pt x="0" y="254281"/>
                  </a:cubicBezTo>
                  <a:lnTo>
                    <a:pt x="0" y="54502"/>
                  </a:lnTo>
                  <a:cubicBezTo>
                    <a:pt x="0" y="40047"/>
                    <a:pt x="5742" y="26184"/>
                    <a:pt x="15963" y="15963"/>
                  </a:cubicBezTo>
                  <a:cubicBezTo>
                    <a:pt x="26184" y="5742"/>
                    <a:pt x="40047" y="0"/>
                    <a:pt x="54502" y="0"/>
                  </a:cubicBezTo>
                  <a:close/>
                </a:path>
              </a:pathLst>
            </a:custGeom>
            <a:solidFill>
              <a:srgbClr val="262A41"/>
            </a:solidFill>
            <a:ln cap="rnd">
              <a:noFill/>
              <a:prstDash val="solid"/>
              <a:round/>
            </a:ln>
          </p:spPr>
        </p:sp>
        <p:sp>
          <p:nvSpPr>
            <p:cNvPr name="TextBox 4" id="4"/>
            <p:cNvSpPr txBox="true"/>
            <p:nvPr/>
          </p:nvSpPr>
          <p:spPr>
            <a:xfrm>
              <a:off x="0" y="-47625"/>
              <a:ext cx="1010119" cy="35640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4282447" y="-7727807"/>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031823" y="-1847968"/>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770651" y="8624986"/>
            <a:ext cx="12484900" cy="10010620"/>
          </a:xfrm>
          <a:custGeom>
            <a:avLst/>
            <a:gdLst/>
            <a:ahLst/>
            <a:cxnLst/>
            <a:rect r="r" b="b" t="t" l="l"/>
            <a:pathLst>
              <a:path h="10010620" w="12484900">
                <a:moveTo>
                  <a:pt x="0" y="0"/>
                </a:moveTo>
                <a:lnTo>
                  <a:pt x="12484900" y="0"/>
                </a:lnTo>
                <a:lnTo>
                  <a:pt x="12484900" y="10010619"/>
                </a:lnTo>
                <a:lnTo>
                  <a:pt x="0" y="1001061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14455313" y="8917647"/>
            <a:ext cx="3153020" cy="681306"/>
            <a:chOff x="0" y="0"/>
            <a:chExt cx="2508570" cy="542053"/>
          </a:xfrm>
        </p:grpSpPr>
        <p:sp>
          <p:nvSpPr>
            <p:cNvPr name="Freeform 9" id="9"/>
            <p:cNvSpPr/>
            <p:nvPr/>
          </p:nvSpPr>
          <p:spPr>
            <a:xfrm flipH="false" flipV="false" rot="0">
              <a:off x="0" y="0"/>
              <a:ext cx="2508570" cy="542053"/>
            </a:xfrm>
            <a:custGeom>
              <a:avLst/>
              <a:gdLst/>
              <a:ahLst/>
              <a:cxnLst/>
              <a:rect r="r" b="b" t="t" l="l"/>
              <a:pathLst>
                <a:path h="542053" w="2508570">
                  <a:moveTo>
                    <a:pt x="2508570" y="271027"/>
                  </a:moveTo>
                  <a:lnTo>
                    <a:pt x="2102170" y="0"/>
                  </a:lnTo>
                  <a:lnTo>
                    <a:pt x="2102170" y="203200"/>
                  </a:lnTo>
                  <a:lnTo>
                    <a:pt x="0" y="203200"/>
                  </a:lnTo>
                  <a:lnTo>
                    <a:pt x="0" y="338853"/>
                  </a:lnTo>
                  <a:lnTo>
                    <a:pt x="2102170" y="338853"/>
                  </a:lnTo>
                  <a:lnTo>
                    <a:pt x="2102170" y="542053"/>
                  </a:lnTo>
                  <a:lnTo>
                    <a:pt x="2508570" y="271027"/>
                  </a:lnTo>
                  <a:close/>
                </a:path>
              </a:pathLst>
            </a:custGeom>
            <a:solidFill>
              <a:srgbClr val="262A41"/>
            </a:solidFill>
          </p:spPr>
        </p:sp>
        <p:sp>
          <p:nvSpPr>
            <p:cNvPr name="TextBox 10" id="10"/>
            <p:cNvSpPr txBox="true"/>
            <p:nvPr/>
          </p:nvSpPr>
          <p:spPr>
            <a:xfrm>
              <a:off x="0" y="155575"/>
              <a:ext cx="2406970" cy="183278"/>
            </a:xfrm>
            <a:prstGeom prst="rect">
              <a:avLst/>
            </a:prstGeom>
          </p:spPr>
          <p:txBody>
            <a:bodyPr anchor="ctr" rtlCol="false" tIns="50800" lIns="50800" bIns="50800" rIns="50800"/>
            <a:lstStyle/>
            <a:p>
              <a:pPr algn="ctr">
                <a:lnSpc>
                  <a:spcPts val="3359"/>
                </a:lnSpc>
              </a:pPr>
            </a:p>
          </p:txBody>
        </p:sp>
      </p:grpSp>
      <p:sp>
        <p:nvSpPr>
          <p:cNvPr name="TextBox 11" id="11"/>
          <p:cNvSpPr txBox="true"/>
          <p:nvPr/>
        </p:nvSpPr>
        <p:spPr>
          <a:xfrm rot="0">
            <a:off x="2342876" y="2140220"/>
            <a:ext cx="12967365" cy="5518457"/>
          </a:xfrm>
          <a:prstGeom prst="rect">
            <a:avLst/>
          </a:prstGeom>
        </p:spPr>
        <p:txBody>
          <a:bodyPr anchor="t" rtlCol="false" tIns="0" lIns="0" bIns="0" rIns="0">
            <a:spAutoFit/>
          </a:bodyPr>
          <a:lstStyle/>
          <a:p>
            <a:pPr algn="ctr">
              <a:lnSpc>
                <a:spcPts val="21835"/>
              </a:lnSpc>
            </a:pPr>
            <a:r>
              <a:rPr lang="en-US" sz="18196">
                <a:solidFill>
                  <a:srgbClr val="262A41"/>
                </a:solidFill>
                <a:latin typeface="Anton"/>
                <a:ea typeface="Anton"/>
                <a:cs typeface="Anton"/>
                <a:sym typeface="Anton"/>
              </a:rPr>
              <a:t>Divide and Conquer </a:t>
            </a:r>
          </a:p>
        </p:txBody>
      </p:sp>
      <p:sp>
        <p:nvSpPr>
          <p:cNvPr name="TextBox 12" id="12"/>
          <p:cNvSpPr txBox="true"/>
          <p:nvPr/>
        </p:nvSpPr>
        <p:spPr>
          <a:xfrm rot="0">
            <a:off x="11134963" y="8786827"/>
            <a:ext cx="2417024" cy="952470"/>
          </a:xfrm>
          <a:prstGeom prst="rect">
            <a:avLst/>
          </a:prstGeom>
        </p:spPr>
        <p:txBody>
          <a:bodyPr anchor="t" rtlCol="false" tIns="0" lIns="0" bIns="0" rIns="0">
            <a:spAutoFit/>
          </a:bodyPr>
          <a:lstStyle/>
          <a:p>
            <a:pPr algn="l">
              <a:lnSpc>
                <a:spcPts val="7595"/>
              </a:lnSpc>
            </a:pPr>
            <a:r>
              <a:rPr lang="en-US" sz="6329">
                <a:solidFill>
                  <a:srgbClr val="FFFFFF"/>
                </a:solidFill>
                <a:latin typeface="Anton"/>
                <a:ea typeface="Anton"/>
                <a:cs typeface="Anton"/>
                <a:sym typeface="Anton"/>
              </a:rPr>
              <a:t>START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5143500"/>
            <a:ext cx="4057650" cy="539175"/>
            <a:chOff x="0" y="0"/>
            <a:chExt cx="1068681" cy="142005"/>
          </a:xfrm>
        </p:grpSpPr>
        <p:sp>
          <p:nvSpPr>
            <p:cNvPr name="Freeform 3" id="3"/>
            <p:cNvSpPr/>
            <p:nvPr/>
          </p:nvSpPr>
          <p:spPr>
            <a:xfrm flipH="false" flipV="false" rot="0">
              <a:off x="0" y="0"/>
              <a:ext cx="1068681" cy="142005"/>
            </a:xfrm>
            <a:custGeom>
              <a:avLst/>
              <a:gdLst/>
              <a:ahLst/>
              <a:cxnLst/>
              <a:rect r="r" b="b" t="t" l="l"/>
              <a:pathLst>
                <a:path h="142005" w="1068681">
                  <a:moveTo>
                    <a:pt x="0" y="0"/>
                  </a:moveTo>
                  <a:lnTo>
                    <a:pt x="1068681" y="0"/>
                  </a:lnTo>
                  <a:lnTo>
                    <a:pt x="1068681" y="142005"/>
                  </a:lnTo>
                  <a:lnTo>
                    <a:pt x="0" y="142005"/>
                  </a:lnTo>
                  <a:close/>
                </a:path>
              </a:pathLst>
            </a:custGeom>
            <a:solidFill>
              <a:srgbClr val="0F1A38"/>
            </a:solidFill>
          </p:spPr>
        </p:sp>
        <p:sp>
          <p:nvSpPr>
            <p:cNvPr name="TextBox 4" id="4"/>
            <p:cNvSpPr txBox="true"/>
            <p:nvPr/>
          </p:nvSpPr>
          <p:spPr>
            <a:xfrm>
              <a:off x="0" y="-47625"/>
              <a:ext cx="1068681" cy="189630"/>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5086350" y="5143500"/>
            <a:ext cx="4057650" cy="539175"/>
            <a:chOff x="0" y="0"/>
            <a:chExt cx="1068681" cy="142005"/>
          </a:xfrm>
        </p:grpSpPr>
        <p:sp>
          <p:nvSpPr>
            <p:cNvPr name="Freeform 6" id="6"/>
            <p:cNvSpPr/>
            <p:nvPr/>
          </p:nvSpPr>
          <p:spPr>
            <a:xfrm flipH="false" flipV="false" rot="0">
              <a:off x="0" y="0"/>
              <a:ext cx="1068681" cy="142005"/>
            </a:xfrm>
            <a:custGeom>
              <a:avLst/>
              <a:gdLst/>
              <a:ahLst/>
              <a:cxnLst/>
              <a:rect r="r" b="b" t="t" l="l"/>
              <a:pathLst>
                <a:path h="142005" w="1068681">
                  <a:moveTo>
                    <a:pt x="0" y="0"/>
                  </a:moveTo>
                  <a:lnTo>
                    <a:pt x="1068681" y="0"/>
                  </a:lnTo>
                  <a:lnTo>
                    <a:pt x="1068681" y="142005"/>
                  </a:lnTo>
                  <a:lnTo>
                    <a:pt x="0" y="142005"/>
                  </a:lnTo>
                  <a:close/>
                </a:path>
              </a:pathLst>
            </a:custGeom>
            <a:solidFill>
              <a:srgbClr val="ED7843"/>
            </a:solidFill>
          </p:spPr>
        </p:sp>
        <p:sp>
          <p:nvSpPr>
            <p:cNvPr name="TextBox 7" id="7"/>
            <p:cNvSpPr txBox="true"/>
            <p:nvPr/>
          </p:nvSpPr>
          <p:spPr>
            <a:xfrm>
              <a:off x="0" y="-47625"/>
              <a:ext cx="1068681" cy="189630"/>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9144000" y="5143500"/>
            <a:ext cx="4057650" cy="539175"/>
            <a:chOff x="0" y="0"/>
            <a:chExt cx="1068681" cy="142005"/>
          </a:xfrm>
        </p:grpSpPr>
        <p:sp>
          <p:nvSpPr>
            <p:cNvPr name="Freeform 9" id="9"/>
            <p:cNvSpPr/>
            <p:nvPr/>
          </p:nvSpPr>
          <p:spPr>
            <a:xfrm flipH="false" flipV="false" rot="0">
              <a:off x="0" y="0"/>
              <a:ext cx="1068681" cy="142005"/>
            </a:xfrm>
            <a:custGeom>
              <a:avLst/>
              <a:gdLst/>
              <a:ahLst/>
              <a:cxnLst/>
              <a:rect r="r" b="b" t="t" l="l"/>
              <a:pathLst>
                <a:path h="142005" w="1068681">
                  <a:moveTo>
                    <a:pt x="0" y="0"/>
                  </a:moveTo>
                  <a:lnTo>
                    <a:pt x="1068681" y="0"/>
                  </a:lnTo>
                  <a:lnTo>
                    <a:pt x="1068681" y="142005"/>
                  </a:lnTo>
                  <a:lnTo>
                    <a:pt x="0" y="142005"/>
                  </a:lnTo>
                  <a:close/>
                </a:path>
              </a:pathLst>
            </a:custGeom>
            <a:solidFill>
              <a:srgbClr val="F4A9A2"/>
            </a:solidFill>
          </p:spPr>
        </p:sp>
        <p:sp>
          <p:nvSpPr>
            <p:cNvPr name="TextBox 10" id="10"/>
            <p:cNvSpPr txBox="true"/>
            <p:nvPr/>
          </p:nvSpPr>
          <p:spPr>
            <a:xfrm>
              <a:off x="0" y="-47625"/>
              <a:ext cx="1068681" cy="189630"/>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13201650" y="5143500"/>
            <a:ext cx="4057650" cy="539175"/>
            <a:chOff x="0" y="0"/>
            <a:chExt cx="1068681" cy="142005"/>
          </a:xfrm>
        </p:grpSpPr>
        <p:sp>
          <p:nvSpPr>
            <p:cNvPr name="Freeform 12" id="12"/>
            <p:cNvSpPr/>
            <p:nvPr/>
          </p:nvSpPr>
          <p:spPr>
            <a:xfrm flipH="false" flipV="false" rot="0">
              <a:off x="0" y="0"/>
              <a:ext cx="1068681" cy="142005"/>
            </a:xfrm>
            <a:custGeom>
              <a:avLst/>
              <a:gdLst/>
              <a:ahLst/>
              <a:cxnLst/>
              <a:rect r="r" b="b" t="t" l="l"/>
              <a:pathLst>
                <a:path h="142005" w="1068681">
                  <a:moveTo>
                    <a:pt x="0" y="0"/>
                  </a:moveTo>
                  <a:lnTo>
                    <a:pt x="1068681" y="0"/>
                  </a:lnTo>
                  <a:lnTo>
                    <a:pt x="1068681" y="142005"/>
                  </a:lnTo>
                  <a:lnTo>
                    <a:pt x="0" y="142005"/>
                  </a:lnTo>
                  <a:close/>
                </a:path>
              </a:pathLst>
            </a:custGeom>
            <a:solidFill>
              <a:srgbClr val="5385EA"/>
            </a:solidFill>
          </p:spPr>
        </p:sp>
        <p:sp>
          <p:nvSpPr>
            <p:cNvPr name="TextBox 13" id="13"/>
            <p:cNvSpPr txBox="true"/>
            <p:nvPr/>
          </p:nvSpPr>
          <p:spPr>
            <a:xfrm>
              <a:off x="0" y="-47625"/>
              <a:ext cx="1068681" cy="189630"/>
            </a:xfrm>
            <a:prstGeom prst="rect">
              <a:avLst/>
            </a:prstGeom>
          </p:spPr>
          <p:txBody>
            <a:bodyPr anchor="ctr" rtlCol="false" tIns="50800" lIns="50800" bIns="50800" rIns="50800"/>
            <a:lstStyle/>
            <a:p>
              <a:pPr algn="ctr">
                <a:lnSpc>
                  <a:spcPts val="3359"/>
                </a:lnSpc>
              </a:pPr>
            </a:p>
          </p:txBody>
        </p:sp>
      </p:grpSp>
      <p:sp>
        <p:nvSpPr>
          <p:cNvPr name="AutoShape 14" id="14"/>
          <p:cNvSpPr/>
          <p:nvPr/>
        </p:nvSpPr>
        <p:spPr>
          <a:xfrm flipV="true">
            <a:off x="2928927" y="4080963"/>
            <a:ext cx="0" cy="1097169"/>
          </a:xfrm>
          <a:prstGeom prst="line">
            <a:avLst/>
          </a:prstGeom>
          <a:ln cap="flat" w="28575">
            <a:solidFill>
              <a:srgbClr val="262A41"/>
            </a:solidFill>
            <a:prstDash val="solid"/>
            <a:headEnd type="none" len="sm" w="sm"/>
            <a:tailEnd type="none" len="sm" w="sm"/>
          </a:ln>
        </p:spPr>
      </p:sp>
      <p:sp>
        <p:nvSpPr>
          <p:cNvPr name="AutoShape 15" id="15"/>
          <p:cNvSpPr/>
          <p:nvPr/>
        </p:nvSpPr>
        <p:spPr>
          <a:xfrm flipV="true">
            <a:off x="7100888" y="4080963"/>
            <a:ext cx="0" cy="1097169"/>
          </a:xfrm>
          <a:prstGeom prst="line">
            <a:avLst/>
          </a:prstGeom>
          <a:ln cap="flat" w="28575">
            <a:solidFill>
              <a:srgbClr val="262A41"/>
            </a:solidFill>
            <a:prstDash val="solid"/>
            <a:headEnd type="none" len="sm" w="sm"/>
            <a:tailEnd type="none" len="sm" w="sm"/>
          </a:ln>
        </p:spPr>
      </p:sp>
      <p:sp>
        <p:nvSpPr>
          <p:cNvPr name="AutoShape 16" id="16"/>
          <p:cNvSpPr/>
          <p:nvPr/>
        </p:nvSpPr>
        <p:spPr>
          <a:xfrm flipV="true">
            <a:off x="11272848" y="4080963"/>
            <a:ext cx="0" cy="1097169"/>
          </a:xfrm>
          <a:prstGeom prst="line">
            <a:avLst/>
          </a:prstGeom>
          <a:ln cap="flat" w="28575">
            <a:solidFill>
              <a:srgbClr val="262A41"/>
            </a:solidFill>
            <a:prstDash val="solid"/>
            <a:headEnd type="none" len="sm" w="sm"/>
            <a:tailEnd type="none" len="sm" w="sm"/>
          </a:ln>
        </p:spPr>
      </p:sp>
      <p:sp>
        <p:nvSpPr>
          <p:cNvPr name="AutoShape 17" id="17"/>
          <p:cNvSpPr/>
          <p:nvPr/>
        </p:nvSpPr>
        <p:spPr>
          <a:xfrm flipV="true">
            <a:off x="15444808" y="4080963"/>
            <a:ext cx="0" cy="1097169"/>
          </a:xfrm>
          <a:prstGeom prst="line">
            <a:avLst/>
          </a:prstGeom>
          <a:ln cap="flat" w="28575">
            <a:solidFill>
              <a:srgbClr val="262A41"/>
            </a:solidFill>
            <a:prstDash val="solid"/>
            <a:headEnd type="none" len="sm" w="sm"/>
            <a:tailEnd type="none" len="sm" w="sm"/>
          </a:ln>
        </p:spPr>
      </p:sp>
      <p:grpSp>
        <p:nvGrpSpPr>
          <p:cNvPr name="Group 18" id="18"/>
          <p:cNvGrpSpPr/>
          <p:nvPr/>
        </p:nvGrpSpPr>
        <p:grpSpPr>
          <a:xfrm rot="0">
            <a:off x="1028700" y="6307140"/>
            <a:ext cx="3823502" cy="2128456"/>
            <a:chOff x="0" y="0"/>
            <a:chExt cx="1007013" cy="560581"/>
          </a:xfrm>
        </p:grpSpPr>
        <p:sp>
          <p:nvSpPr>
            <p:cNvPr name="Freeform 19" id="19"/>
            <p:cNvSpPr/>
            <p:nvPr/>
          </p:nvSpPr>
          <p:spPr>
            <a:xfrm flipH="false" flipV="false" rot="0">
              <a:off x="0" y="0"/>
              <a:ext cx="1007013" cy="560581"/>
            </a:xfrm>
            <a:custGeom>
              <a:avLst/>
              <a:gdLst/>
              <a:ahLst/>
              <a:cxnLst/>
              <a:rect r="r" b="b" t="t" l="l"/>
              <a:pathLst>
                <a:path h="560581" w="1007013">
                  <a:moveTo>
                    <a:pt x="0" y="0"/>
                  </a:moveTo>
                  <a:lnTo>
                    <a:pt x="1007013" y="0"/>
                  </a:lnTo>
                  <a:lnTo>
                    <a:pt x="1007013" y="560581"/>
                  </a:lnTo>
                  <a:lnTo>
                    <a:pt x="0" y="560581"/>
                  </a:lnTo>
                  <a:close/>
                </a:path>
              </a:pathLst>
            </a:custGeom>
            <a:solidFill>
              <a:srgbClr val="000000">
                <a:alpha val="0"/>
              </a:srgbClr>
            </a:solidFill>
            <a:ln w="28575" cap="sq">
              <a:solidFill>
                <a:srgbClr val="000000"/>
              </a:solidFill>
              <a:prstDash val="solid"/>
              <a:miter/>
            </a:ln>
          </p:spPr>
        </p:sp>
        <p:sp>
          <p:nvSpPr>
            <p:cNvPr name="TextBox 20" id="20"/>
            <p:cNvSpPr txBox="true"/>
            <p:nvPr/>
          </p:nvSpPr>
          <p:spPr>
            <a:xfrm>
              <a:off x="0" y="-47625"/>
              <a:ext cx="1007013" cy="608206"/>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5189137" y="6307140"/>
            <a:ext cx="3823502" cy="2128456"/>
            <a:chOff x="0" y="0"/>
            <a:chExt cx="1007013" cy="560581"/>
          </a:xfrm>
        </p:grpSpPr>
        <p:sp>
          <p:nvSpPr>
            <p:cNvPr name="Freeform 22" id="22"/>
            <p:cNvSpPr/>
            <p:nvPr/>
          </p:nvSpPr>
          <p:spPr>
            <a:xfrm flipH="false" flipV="false" rot="0">
              <a:off x="0" y="0"/>
              <a:ext cx="1007013" cy="560581"/>
            </a:xfrm>
            <a:custGeom>
              <a:avLst/>
              <a:gdLst/>
              <a:ahLst/>
              <a:cxnLst/>
              <a:rect r="r" b="b" t="t" l="l"/>
              <a:pathLst>
                <a:path h="560581" w="1007013">
                  <a:moveTo>
                    <a:pt x="0" y="0"/>
                  </a:moveTo>
                  <a:lnTo>
                    <a:pt x="1007013" y="0"/>
                  </a:lnTo>
                  <a:lnTo>
                    <a:pt x="1007013" y="560581"/>
                  </a:lnTo>
                  <a:lnTo>
                    <a:pt x="0" y="560581"/>
                  </a:lnTo>
                  <a:close/>
                </a:path>
              </a:pathLst>
            </a:custGeom>
            <a:solidFill>
              <a:srgbClr val="000000">
                <a:alpha val="0"/>
              </a:srgbClr>
            </a:solidFill>
            <a:ln w="28575" cap="sq">
              <a:solidFill>
                <a:srgbClr val="000000"/>
              </a:solidFill>
              <a:prstDash val="solid"/>
              <a:miter/>
            </a:ln>
          </p:spPr>
        </p:sp>
        <p:sp>
          <p:nvSpPr>
            <p:cNvPr name="TextBox 23" id="23"/>
            <p:cNvSpPr txBox="true"/>
            <p:nvPr/>
          </p:nvSpPr>
          <p:spPr>
            <a:xfrm>
              <a:off x="0" y="-47625"/>
              <a:ext cx="1007013" cy="608206"/>
            </a:xfrm>
            <a:prstGeom prst="rect">
              <a:avLst/>
            </a:prstGeom>
          </p:spPr>
          <p:txBody>
            <a:bodyPr anchor="ctr" rtlCol="false" tIns="50800" lIns="50800" bIns="50800" rIns="50800"/>
            <a:lstStyle/>
            <a:p>
              <a:pPr algn="ctr">
                <a:lnSpc>
                  <a:spcPts val="3359"/>
                </a:lnSpc>
              </a:pPr>
            </a:p>
          </p:txBody>
        </p:sp>
      </p:grpSp>
      <p:grpSp>
        <p:nvGrpSpPr>
          <p:cNvPr name="Group 24" id="24"/>
          <p:cNvGrpSpPr/>
          <p:nvPr/>
        </p:nvGrpSpPr>
        <p:grpSpPr>
          <a:xfrm rot="0">
            <a:off x="9261074" y="6307140"/>
            <a:ext cx="3823502" cy="2128456"/>
            <a:chOff x="0" y="0"/>
            <a:chExt cx="1007013" cy="560581"/>
          </a:xfrm>
        </p:grpSpPr>
        <p:sp>
          <p:nvSpPr>
            <p:cNvPr name="Freeform 25" id="25"/>
            <p:cNvSpPr/>
            <p:nvPr/>
          </p:nvSpPr>
          <p:spPr>
            <a:xfrm flipH="false" flipV="false" rot="0">
              <a:off x="0" y="0"/>
              <a:ext cx="1007013" cy="560581"/>
            </a:xfrm>
            <a:custGeom>
              <a:avLst/>
              <a:gdLst/>
              <a:ahLst/>
              <a:cxnLst/>
              <a:rect r="r" b="b" t="t" l="l"/>
              <a:pathLst>
                <a:path h="560581" w="1007013">
                  <a:moveTo>
                    <a:pt x="0" y="0"/>
                  </a:moveTo>
                  <a:lnTo>
                    <a:pt x="1007013" y="0"/>
                  </a:lnTo>
                  <a:lnTo>
                    <a:pt x="1007013" y="560581"/>
                  </a:lnTo>
                  <a:lnTo>
                    <a:pt x="0" y="560581"/>
                  </a:lnTo>
                  <a:close/>
                </a:path>
              </a:pathLst>
            </a:custGeom>
            <a:solidFill>
              <a:srgbClr val="000000">
                <a:alpha val="0"/>
              </a:srgbClr>
            </a:solidFill>
            <a:ln w="28575" cap="sq">
              <a:solidFill>
                <a:srgbClr val="000000"/>
              </a:solidFill>
              <a:prstDash val="solid"/>
              <a:miter/>
            </a:ln>
          </p:spPr>
        </p:sp>
        <p:sp>
          <p:nvSpPr>
            <p:cNvPr name="TextBox 26" id="26"/>
            <p:cNvSpPr txBox="true"/>
            <p:nvPr/>
          </p:nvSpPr>
          <p:spPr>
            <a:xfrm>
              <a:off x="0" y="-47625"/>
              <a:ext cx="1007013" cy="608206"/>
            </a:xfrm>
            <a:prstGeom prst="rect">
              <a:avLst/>
            </a:prstGeom>
          </p:spPr>
          <p:txBody>
            <a:bodyPr anchor="ctr" rtlCol="false" tIns="50800" lIns="50800" bIns="50800" rIns="50800"/>
            <a:lstStyle/>
            <a:p>
              <a:pPr algn="ctr">
                <a:lnSpc>
                  <a:spcPts val="3359"/>
                </a:lnSpc>
              </a:pPr>
            </a:p>
          </p:txBody>
        </p:sp>
      </p:grpSp>
      <p:grpSp>
        <p:nvGrpSpPr>
          <p:cNvPr name="Group 27" id="27"/>
          <p:cNvGrpSpPr/>
          <p:nvPr/>
        </p:nvGrpSpPr>
        <p:grpSpPr>
          <a:xfrm rot="0">
            <a:off x="13332226" y="6307140"/>
            <a:ext cx="3823502" cy="2128456"/>
            <a:chOff x="0" y="0"/>
            <a:chExt cx="1007013" cy="560581"/>
          </a:xfrm>
        </p:grpSpPr>
        <p:sp>
          <p:nvSpPr>
            <p:cNvPr name="Freeform 28" id="28"/>
            <p:cNvSpPr/>
            <p:nvPr/>
          </p:nvSpPr>
          <p:spPr>
            <a:xfrm flipH="false" flipV="false" rot="0">
              <a:off x="0" y="0"/>
              <a:ext cx="1007013" cy="560581"/>
            </a:xfrm>
            <a:custGeom>
              <a:avLst/>
              <a:gdLst/>
              <a:ahLst/>
              <a:cxnLst/>
              <a:rect r="r" b="b" t="t" l="l"/>
              <a:pathLst>
                <a:path h="560581" w="1007013">
                  <a:moveTo>
                    <a:pt x="0" y="0"/>
                  </a:moveTo>
                  <a:lnTo>
                    <a:pt x="1007013" y="0"/>
                  </a:lnTo>
                  <a:lnTo>
                    <a:pt x="1007013" y="560581"/>
                  </a:lnTo>
                  <a:lnTo>
                    <a:pt x="0" y="560581"/>
                  </a:lnTo>
                  <a:close/>
                </a:path>
              </a:pathLst>
            </a:custGeom>
            <a:solidFill>
              <a:srgbClr val="000000">
                <a:alpha val="0"/>
              </a:srgbClr>
            </a:solidFill>
            <a:ln w="28575" cap="sq">
              <a:solidFill>
                <a:srgbClr val="000000"/>
              </a:solidFill>
              <a:prstDash val="solid"/>
              <a:miter/>
            </a:ln>
          </p:spPr>
        </p:sp>
        <p:sp>
          <p:nvSpPr>
            <p:cNvPr name="TextBox 29" id="29"/>
            <p:cNvSpPr txBox="true"/>
            <p:nvPr/>
          </p:nvSpPr>
          <p:spPr>
            <a:xfrm>
              <a:off x="0" y="-47625"/>
              <a:ext cx="1007013" cy="608206"/>
            </a:xfrm>
            <a:prstGeom prst="rect">
              <a:avLst/>
            </a:prstGeom>
          </p:spPr>
          <p:txBody>
            <a:bodyPr anchor="ctr" rtlCol="false" tIns="50800" lIns="50800" bIns="50800" rIns="50800"/>
            <a:lstStyle/>
            <a:p>
              <a:pPr algn="ctr">
                <a:lnSpc>
                  <a:spcPts val="3359"/>
                </a:lnSpc>
              </a:pPr>
            </a:p>
          </p:txBody>
        </p:sp>
      </p:grpSp>
      <p:sp>
        <p:nvSpPr>
          <p:cNvPr name="TextBox 30" id="30"/>
          <p:cNvSpPr txBox="true"/>
          <p:nvPr/>
        </p:nvSpPr>
        <p:spPr>
          <a:xfrm rot="0">
            <a:off x="1375162" y="3025645"/>
            <a:ext cx="3130577" cy="704850"/>
          </a:xfrm>
          <a:prstGeom prst="rect">
            <a:avLst/>
          </a:prstGeom>
        </p:spPr>
        <p:txBody>
          <a:bodyPr anchor="t" rtlCol="false" tIns="0" lIns="0" bIns="0" rIns="0">
            <a:spAutoFit/>
          </a:bodyPr>
          <a:lstStyle/>
          <a:p>
            <a:pPr algn="ctr">
              <a:lnSpc>
                <a:spcPts val="5696"/>
              </a:lnSpc>
            </a:pPr>
            <a:r>
              <a:rPr lang="en-US" sz="4746">
                <a:solidFill>
                  <a:srgbClr val="262A41"/>
                </a:solidFill>
                <a:latin typeface="Anton"/>
                <a:ea typeface="Anton"/>
                <a:cs typeface="Anton"/>
                <a:sym typeface="Anton"/>
              </a:rPr>
              <a:t>PREP</a:t>
            </a:r>
          </a:p>
        </p:txBody>
      </p:sp>
      <p:sp>
        <p:nvSpPr>
          <p:cNvPr name="TextBox 31" id="31"/>
          <p:cNvSpPr txBox="true"/>
          <p:nvPr/>
        </p:nvSpPr>
        <p:spPr>
          <a:xfrm rot="0">
            <a:off x="1538489" y="6841807"/>
            <a:ext cx="2780876" cy="971550"/>
          </a:xfrm>
          <a:prstGeom prst="rect">
            <a:avLst/>
          </a:prstGeom>
        </p:spPr>
        <p:txBody>
          <a:bodyPr anchor="t" rtlCol="false" tIns="0" lIns="0" bIns="0" rIns="0">
            <a:spAutoFit/>
          </a:bodyPr>
          <a:lstStyle/>
          <a:p>
            <a:pPr algn="ctr">
              <a:lnSpc>
                <a:spcPts val="3840"/>
              </a:lnSpc>
            </a:pPr>
            <a:r>
              <a:rPr lang="en-US" sz="3200">
                <a:solidFill>
                  <a:srgbClr val="262A41"/>
                </a:solidFill>
                <a:latin typeface="Open Sauce"/>
                <a:ea typeface="Open Sauce"/>
                <a:cs typeface="Open Sauce"/>
                <a:sym typeface="Open Sauce"/>
              </a:rPr>
              <a:t>DISCUSS PREP </a:t>
            </a:r>
          </a:p>
        </p:txBody>
      </p:sp>
      <p:sp>
        <p:nvSpPr>
          <p:cNvPr name="TextBox 32" id="32"/>
          <p:cNvSpPr txBox="true"/>
          <p:nvPr/>
        </p:nvSpPr>
        <p:spPr>
          <a:xfrm rot="0">
            <a:off x="5545744" y="3022117"/>
            <a:ext cx="3138862" cy="711885"/>
          </a:xfrm>
          <a:prstGeom prst="rect">
            <a:avLst/>
          </a:prstGeom>
        </p:spPr>
        <p:txBody>
          <a:bodyPr anchor="t" rtlCol="false" tIns="0" lIns="0" bIns="0" rIns="0">
            <a:spAutoFit/>
          </a:bodyPr>
          <a:lstStyle/>
          <a:p>
            <a:pPr algn="l">
              <a:lnSpc>
                <a:spcPts val="5696"/>
              </a:lnSpc>
            </a:pPr>
            <a:r>
              <a:rPr lang="en-US" sz="4746">
                <a:solidFill>
                  <a:srgbClr val="262A41"/>
                </a:solidFill>
                <a:latin typeface="Anton"/>
                <a:ea typeface="Anton"/>
                <a:cs typeface="Anton"/>
                <a:sym typeface="Anton"/>
              </a:rPr>
              <a:t>INTRODUCTION</a:t>
            </a:r>
          </a:p>
        </p:txBody>
      </p:sp>
      <p:sp>
        <p:nvSpPr>
          <p:cNvPr name="TextBox 33" id="33"/>
          <p:cNvSpPr txBox="true"/>
          <p:nvPr/>
        </p:nvSpPr>
        <p:spPr>
          <a:xfrm rot="0">
            <a:off x="5435814" y="6841807"/>
            <a:ext cx="3241648" cy="971550"/>
          </a:xfrm>
          <a:prstGeom prst="rect">
            <a:avLst/>
          </a:prstGeom>
        </p:spPr>
        <p:txBody>
          <a:bodyPr anchor="t" rtlCol="false" tIns="0" lIns="0" bIns="0" rIns="0">
            <a:spAutoFit/>
          </a:bodyPr>
          <a:lstStyle/>
          <a:p>
            <a:pPr algn="ctr">
              <a:lnSpc>
                <a:spcPts val="3840"/>
              </a:lnSpc>
            </a:pPr>
            <a:r>
              <a:rPr lang="en-US" sz="3200">
                <a:solidFill>
                  <a:srgbClr val="262A41"/>
                </a:solidFill>
                <a:latin typeface="Open Sauce"/>
                <a:ea typeface="Open Sauce"/>
                <a:cs typeface="Open Sauce"/>
                <a:sym typeface="Open Sauce"/>
              </a:rPr>
              <a:t>WHAT IS DIVIDE AND CONQUER</a:t>
            </a:r>
          </a:p>
        </p:txBody>
      </p:sp>
      <p:sp>
        <p:nvSpPr>
          <p:cNvPr name="TextBox 34" id="34"/>
          <p:cNvSpPr txBox="true"/>
          <p:nvPr/>
        </p:nvSpPr>
        <p:spPr>
          <a:xfrm rot="0">
            <a:off x="9365171" y="3025645"/>
            <a:ext cx="3815353" cy="704850"/>
          </a:xfrm>
          <a:prstGeom prst="rect">
            <a:avLst/>
          </a:prstGeom>
        </p:spPr>
        <p:txBody>
          <a:bodyPr anchor="t" rtlCol="false" tIns="0" lIns="0" bIns="0" rIns="0">
            <a:spAutoFit/>
          </a:bodyPr>
          <a:lstStyle/>
          <a:p>
            <a:pPr algn="ctr">
              <a:lnSpc>
                <a:spcPts val="5696"/>
              </a:lnSpc>
            </a:pPr>
            <a:r>
              <a:rPr lang="en-US" sz="4746">
                <a:solidFill>
                  <a:srgbClr val="262A41"/>
                </a:solidFill>
                <a:latin typeface="Anton"/>
                <a:ea typeface="Anton"/>
                <a:cs typeface="Anton"/>
                <a:sym typeface="Anton"/>
              </a:rPr>
              <a:t>MERGE SORT</a:t>
            </a:r>
          </a:p>
        </p:txBody>
      </p:sp>
      <p:sp>
        <p:nvSpPr>
          <p:cNvPr name="TextBox 35" id="35"/>
          <p:cNvSpPr txBox="true"/>
          <p:nvPr/>
        </p:nvSpPr>
        <p:spPr>
          <a:xfrm rot="0">
            <a:off x="13739158" y="3029151"/>
            <a:ext cx="3520142" cy="704850"/>
          </a:xfrm>
          <a:prstGeom prst="rect">
            <a:avLst/>
          </a:prstGeom>
        </p:spPr>
        <p:txBody>
          <a:bodyPr anchor="t" rtlCol="false" tIns="0" lIns="0" bIns="0" rIns="0">
            <a:spAutoFit/>
          </a:bodyPr>
          <a:lstStyle/>
          <a:p>
            <a:pPr algn="ctr">
              <a:lnSpc>
                <a:spcPts val="5696"/>
              </a:lnSpc>
            </a:pPr>
            <a:r>
              <a:rPr lang="en-US" sz="4746">
                <a:solidFill>
                  <a:srgbClr val="262A41"/>
                </a:solidFill>
                <a:latin typeface="Anton"/>
                <a:ea typeface="Anton"/>
                <a:cs typeface="Anton"/>
                <a:sym typeface="Anton"/>
              </a:rPr>
              <a:t>BINARY SEARCH</a:t>
            </a:r>
          </a:p>
        </p:txBody>
      </p:sp>
      <p:sp>
        <p:nvSpPr>
          <p:cNvPr name="TextBox 36" id="36"/>
          <p:cNvSpPr txBox="true"/>
          <p:nvPr/>
        </p:nvSpPr>
        <p:spPr>
          <a:xfrm rot="0">
            <a:off x="13700885" y="7128481"/>
            <a:ext cx="3151483" cy="485775"/>
          </a:xfrm>
          <a:prstGeom prst="rect">
            <a:avLst/>
          </a:prstGeom>
        </p:spPr>
        <p:txBody>
          <a:bodyPr anchor="t" rtlCol="false" tIns="0" lIns="0" bIns="0" rIns="0">
            <a:spAutoFit/>
          </a:bodyPr>
          <a:lstStyle/>
          <a:p>
            <a:pPr algn="l">
              <a:lnSpc>
                <a:spcPts val="3840"/>
              </a:lnSpc>
            </a:pPr>
            <a:r>
              <a:rPr lang="en-US" sz="3200">
                <a:solidFill>
                  <a:srgbClr val="262A41"/>
                </a:solidFill>
                <a:latin typeface="Open Sauce"/>
                <a:ea typeface="Open Sauce"/>
                <a:cs typeface="Open Sauce"/>
                <a:sym typeface="Open Sauce"/>
              </a:rPr>
              <a:t>EXAMPLE</a:t>
            </a:r>
          </a:p>
        </p:txBody>
      </p:sp>
      <p:sp>
        <p:nvSpPr>
          <p:cNvPr name="TextBox 37" id="37"/>
          <p:cNvSpPr txBox="true"/>
          <p:nvPr/>
        </p:nvSpPr>
        <p:spPr>
          <a:xfrm rot="0">
            <a:off x="1028700" y="968491"/>
            <a:ext cx="11970945" cy="1279995"/>
          </a:xfrm>
          <a:prstGeom prst="rect">
            <a:avLst/>
          </a:prstGeom>
        </p:spPr>
        <p:txBody>
          <a:bodyPr anchor="t" rtlCol="false" tIns="0" lIns="0" bIns="0" rIns="0">
            <a:spAutoFit/>
          </a:bodyPr>
          <a:lstStyle/>
          <a:p>
            <a:pPr algn="l">
              <a:lnSpc>
                <a:spcPts val="10129"/>
              </a:lnSpc>
            </a:pPr>
            <a:r>
              <a:rPr lang="en-US" sz="8441">
                <a:solidFill>
                  <a:srgbClr val="262A41"/>
                </a:solidFill>
                <a:latin typeface="Anton"/>
                <a:ea typeface="Anton"/>
                <a:cs typeface="Anton"/>
                <a:sym typeface="Anton"/>
              </a:rPr>
              <a:t>Overview</a:t>
            </a:r>
          </a:p>
        </p:txBody>
      </p:sp>
      <p:sp>
        <p:nvSpPr>
          <p:cNvPr name="Freeform 38" id="38"/>
          <p:cNvSpPr/>
          <p:nvPr/>
        </p:nvSpPr>
        <p:spPr>
          <a:xfrm flipH="false" flipV="false" rot="0">
            <a:off x="-2854447" y="9064247"/>
            <a:ext cx="12484900" cy="10010620"/>
          </a:xfrm>
          <a:custGeom>
            <a:avLst/>
            <a:gdLst/>
            <a:ahLst/>
            <a:cxnLst/>
            <a:rect r="r" b="b" t="t" l="l"/>
            <a:pathLst>
              <a:path h="10010620" w="12484900">
                <a:moveTo>
                  <a:pt x="0" y="0"/>
                </a:moveTo>
                <a:lnTo>
                  <a:pt x="12484900" y="0"/>
                </a:lnTo>
                <a:lnTo>
                  <a:pt x="12484900" y="10010619"/>
                </a:lnTo>
                <a:lnTo>
                  <a:pt x="0" y="1001061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9" id="39"/>
          <p:cNvSpPr/>
          <p:nvPr/>
        </p:nvSpPr>
        <p:spPr>
          <a:xfrm flipH="false" flipV="false" rot="0">
            <a:off x="10913277" y="-7340906"/>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40" id="40"/>
          <p:cNvGrpSpPr/>
          <p:nvPr/>
        </p:nvGrpSpPr>
        <p:grpSpPr>
          <a:xfrm rot="0">
            <a:off x="2768689" y="3909201"/>
            <a:ext cx="343524" cy="343524"/>
            <a:chOff x="0" y="0"/>
            <a:chExt cx="90476" cy="90476"/>
          </a:xfrm>
        </p:grpSpPr>
        <p:sp>
          <p:nvSpPr>
            <p:cNvPr name="Freeform 41" id="41"/>
            <p:cNvSpPr/>
            <p:nvPr/>
          </p:nvSpPr>
          <p:spPr>
            <a:xfrm flipH="false" flipV="false" rot="0">
              <a:off x="0" y="0"/>
              <a:ext cx="90476" cy="90476"/>
            </a:xfrm>
            <a:custGeom>
              <a:avLst/>
              <a:gdLst/>
              <a:ahLst/>
              <a:cxnLst/>
              <a:rect r="r" b="b" t="t" l="l"/>
              <a:pathLst>
                <a:path h="90476" w="90476">
                  <a:moveTo>
                    <a:pt x="0" y="0"/>
                  </a:moveTo>
                  <a:lnTo>
                    <a:pt x="90476" y="0"/>
                  </a:lnTo>
                  <a:lnTo>
                    <a:pt x="90476" y="90476"/>
                  </a:lnTo>
                  <a:lnTo>
                    <a:pt x="0" y="90476"/>
                  </a:lnTo>
                  <a:close/>
                </a:path>
              </a:pathLst>
            </a:custGeom>
            <a:solidFill>
              <a:srgbClr val="262A41"/>
            </a:solidFill>
          </p:spPr>
        </p:sp>
        <p:sp>
          <p:nvSpPr>
            <p:cNvPr name="TextBox 42" id="42"/>
            <p:cNvSpPr txBox="true"/>
            <p:nvPr/>
          </p:nvSpPr>
          <p:spPr>
            <a:xfrm>
              <a:off x="0" y="-47625"/>
              <a:ext cx="90476" cy="138101"/>
            </a:xfrm>
            <a:prstGeom prst="rect">
              <a:avLst/>
            </a:prstGeom>
          </p:spPr>
          <p:txBody>
            <a:bodyPr anchor="ctr" rtlCol="false" tIns="50800" lIns="50800" bIns="50800" rIns="50800"/>
            <a:lstStyle/>
            <a:p>
              <a:pPr algn="ctr">
                <a:lnSpc>
                  <a:spcPts val="3359"/>
                </a:lnSpc>
              </a:pPr>
            </a:p>
          </p:txBody>
        </p:sp>
      </p:grpSp>
      <p:grpSp>
        <p:nvGrpSpPr>
          <p:cNvPr name="Group 43" id="43"/>
          <p:cNvGrpSpPr/>
          <p:nvPr/>
        </p:nvGrpSpPr>
        <p:grpSpPr>
          <a:xfrm rot="0">
            <a:off x="6929125" y="3909201"/>
            <a:ext cx="343524" cy="343524"/>
            <a:chOff x="0" y="0"/>
            <a:chExt cx="90476" cy="90476"/>
          </a:xfrm>
        </p:grpSpPr>
        <p:sp>
          <p:nvSpPr>
            <p:cNvPr name="Freeform 44" id="44"/>
            <p:cNvSpPr/>
            <p:nvPr/>
          </p:nvSpPr>
          <p:spPr>
            <a:xfrm flipH="false" flipV="false" rot="0">
              <a:off x="0" y="0"/>
              <a:ext cx="90476" cy="90476"/>
            </a:xfrm>
            <a:custGeom>
              <a:avLst/>
              <a:gdLst/>
              <a:ahLst/>
              <a:cxnLst/>
              <a:rect r="r" b="b" t="t" l="l"/>
              <a:pathLst>
                <a:path h="90476" w="90476">
                  <a:moveTo>
                    <a:pt x="0" y="0"/>
                  </a:moveTo>
                  <a:lnTo>
                    <a:pt x="90476" y="0"/>
                  </a:lnTo>
                  <a:lnTo>
                    <a:pt x="90476" y="90476"/>
                  </a:lnTo>
                  <a:lnTo>
                    <a:pt x="0" y="90476"/>
                  </a:lnTo>
                  <a:close/>
                </a:path>
              </a:pathLst>
            </a:custGeom>
            <a:solidFill>
              <a:srgbClr val="262A41"/>
            </a:solidFill>
          </p:spPr>
        </p:sp>
        <p:sp>
          <p:nvSpPr>
            <p:cNvPr name="TextBox 45" id="45"/>
            <p:cNvSpPr txBox="true"/>
            <p:nvPr/>
          </p:nvSpPr>
          <p:spPr>
            <a:xfrm>
              <a:off x="0" y="-47625"/>
              <a:ext cx="90476" cy="138101"/>
            </a:xfrm>
            <a:prstGeom prst="rect">
              <a:avLst/>
            </a:prstGeom>
          </p:spPr>
          <p:txBody>
            <a:bodyPr anchor="ctr" rtlCol="false" tIns="50800" lIns="50800" bIns="50800" rIns="50800"/>
            <a:lstStyle/>
            <a:p>
              <a:pPr algn="ctr">
                <a:lnSpc>
                  <a:spcPts val="3359"/>
                </a:lnSpc>
              </a:pPr>
            </a:p>
          </p:txBody>
        </p:sp>
      </p:grpSp>
      <p:grpSp>
        <p:nvGrpSpPr>
          <p:cNvPr name="Group 46" id="46"/>
          <p:cNvGrpSpPr/>
          <p:nvPr/>
        </p:nvGrpSpPr>
        <p:grpSpPr>
          <a:xfrm rot="0">
            <a:off x="11101086" y="3909201"/>
            <a:ext cx="343524" cy="343524"/>
            <a:chOff x="0" y="0"/>
            <a:chExt cx="90476" cy="90476"/>
          </a:xfrm>
        </p:grpSpPr>
        <p:sp>
          <p:nvSpPr>
            <p:cNvPr name="Freeform 47" id="47"/>
            <p:cNvSpPr/>
            <p:nvPr/>
          </p:nvSpPr>
          <p:spPr>
            <a:xfrm flipH="false" flipV="false" rot="0">
              <a:off x="0" y="0"/>
              <a:ext cx="90476" cy="90476"/>
            </a:xfrm>
            <a:custGeom>
              <a:avLst/>
              <a:gdLst/>
              <a:ahLst/>
              <a:cxnLst/>
              <a:rect r="r" b="b" t="t" l="l"/>
              <a:pathLst>
                <a:path h="90476" w="90476">
                  <a:moveTo>
                    <a:pt x="0" y="0"/>
                  </a:moveTo>
                  <a:lnTo>
                    <a:pt x="90476" y="0"/>
                  </a:lnTo>
                  <a:lnTo>
                    <a:pt x="90476" y="90476"/>
                  </a:lnTo>
                  <a:lnTo>
                    <a:pt x="0" y="90476"/>
                  </a:lnTo>
                  <a:close/>
                </a:path>
              </a:pathLst>
            </a:custGeom>
            <a:solidFill>
              <a:srgbClr val="262A41"/>
            </a:solidFill>
          </p:spPr>
        </p:sp>
        <p:sp>
          <p:nvSpPr>
            <p:cNvPr name="TextBox 48" id="48"/>
            <p:cNvSpPr txBox="true"/>
            <p:nvPr/>
          </p:nvSpPr>
          <p:spPr>
            <a:xfrm>
              <a:off x="0" y="-47625"/>
              <a:ext cx="90476" cy="138101"/>
            </a:xfrm>
            <a:prstGeom prst="rect">
              <a:avLst/>
            </a:prstGeom>
          </p:spPr>
          <p:txBody>
            <a:bodyPr anchor="ctr" rtlCol="false" tIns="50800" lIns="50800" bIns="50800" rIns="50800"/>
            <a:lstStyle/>
            <a:p>
              <a:pPr algn="ctr">
                <a:lnSpc>
                  <a:spcPts val="3359"/>
                </a:lnSpc>
              </a:pPr>
            </a:p>
          </p:txBody>
        </p:sp>
      </p:grpSp>
      <p:grpSp>
        <p:nvGrpSpPr>
          <p:cNvPr name="Group 49" id="49"/>
          <p:cNvGrpSpPr/>
          <p:nvPr/>
        </p:nvGrpSpPr>
        <p:grpSpPr>
          <a:xfrm rot="0">
            <a:off x="15273046" y="3909201"/>
            <a:ext cx="343524" cy="343524"/>
            <a:chOff x="0" y="0"/>
            <a:chExt cx="90476" cy="90476"/>
          </a:xfrm>
        </p:grpSpPr>
        <p:sp>
          <p:nvSpPr>
            <p:cNvPr name="Freeform 50" id="50"/>
            <p:cNvSpPr/>
            <p:nvPr/>
          </p:nvSpPr>
          <p:spPr>
            <a:xfrm flipH="false" flipV="false" rot="0">
              <a:off x="0" y="0"/>
              <a:ext cx="90476" cy="90476"/>
            </a:xfrm>
            <a:custGeom>
              <a:avLst/>
              <a:gdLst/>
              <a:ahLst/>
              <a:cxnLst/>
              <a:rect r="r" b="b" t="t" l="l"/>
              <a:pathLst>
                <a:path h="90476" w="90476">
                  <a:moveTo>
                    <a:pt x="0" y="0"/>
                  </a:moveTo>
                  <a:lnTo>
                    <a:pt x="90476" y="0"/>
                  </a:lnTo>
                  <a:lnTo>
                    <a:pt x="90476" y="90476"/>
                  </a:lnTo>
                  <a:lnTo>
                    <a:pt x="0" y="90476"/>
                  </a:lnTo>
                  <a:close/>
                </a:path>
              </a:pathLst>
            </a:custGeom>
            <a:solidFill>
              <a:srgbClr val="262A41"/>
            </a:solidFill>
          </p:spPr>
        </p:sp>
        <p:sp>
          <p:nvSpPr>
            <p:cNvPr name="TextBox 51" id="51"/>
            <p:cNvSpPr txBox="true"/>
            <p:nvPr/>
          </p:nvSpPr>
          <p:spPr>
            <a:xfrm>
              <a:off x="0" y="-47625"/>
              <a:ext cx="90476" cy="138101"/>
            </a:xfrm>
            <a:prstGeom prst="rect">
              <a:avLst/>
            </a:prstGeom>
          </p:spPr>
          <p:txBody>
            <a:bodyPr anchor="ctr" rtlCol="false" tIns="50800" lIns="50800" bIns="50800" rIns="50800"/>
            <a:lstStyle/>
            <a:p>
              <a:pPr algn="ctr">
                <a:lnSpc>
                  <a:spcPts val="3359"/>
                </a:lnSpc>
              </a:pPr>
            </a:p>
          </p:txBody>
        </p:sp>
      </p:grpSp>
      <p:sp>
        <p:nvSpPr>
          <p:cNvPr name="TextBox 52" id="52"/>
          <p:cNvSpPr txBox="true"/>
          <p:nvPr/>
        </p:nvSpPr>
        <p:spPr>
          <a:xfrm rot="0">
            <a:off x="9552001" y="7130574"/>
            <a:ext cx="3241648" cy="485775"/>
          </a:xfrm>
          <a:prstGeom prst="rect">
            <a:avLst/>
          </a:prstGeom>
        </p:spPr>
        <p:txBody>
          <a:bodyPr anchor="t" rtlCol="false" tIns="0" lIns="0" bIns="0" rIns="0">
            <a:spAutoFit/>
          </a:bodyPr>
          <a:lstStyle/>
          <a:p>
            <a:pPr algn="ctr">
              <a:lnSpc>
                <a:spcPts val="3840"/>
              </a:lnSpc>
            </a:pPr>
            <a:r>
              <a:rPr lang="en-US" sz="3200">
                <a:solidFill>
                  <a:srgbClr val="262A41"/>
                </a:solidFill>
                <a:latin typeface="Open Sauce"/>
                <a:ea typeface="Open Sauce"/>
                <a:cs typeface="Open Sauce"/>
                <a:sym typeface="Open Sauce"/>
              </a:rPr>
              <a:t>EXAMPLE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406744" y="2308655"/>
            <a:ext cx="12484900" cy="10010620"/>
          </a:xfrm>
          <a:custGeom>
            <a:avLst/>
            <a:gdLst/>
            <a:ahLst/>
            <a:cxnLst/>
            <a:rect r="r" b="b" t="t" l="l"/>
            <a:pathLst>
              <a:path h="10010620" w="12484900">
                <a:moveTo>
                  <a:pt x="0" y="0"/>
                </a:moveTo>
                <a:lnTo>
                  <a:pt x="12484900" y="0"/>
                </a:lnTo>
                <a:lnTo>
                  <a:pt x="12484900" y="10010619"/>
                </a:lnTo>
                <a:lnTo>
                  <a:pt x="0" y="1001061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013573" y="-5200495"/>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53403" y="790697"/>
            <a:ext cx="11970945" cy="1279995"/>
          </a:xfrm>
          <a:prstGeom prst="rect">
            <a:avLst/>
          </a:prstGeom>
        </p:spPr>
        <p:txBody>
          <a:bodyPr anchor="t" rtlCol="false" tIns="0" lIns="0" bIns="0" rIns="0">
            <a:spAutoFit/>
          </a:bodyPr>
          <a:lstStyle/>
          <a:p>
            <a:pPr algn="l">
              <a:lnSpc>
                <a:spcPts val="10129"/>
              </a:lnSpc>
            </a:pPr>
            <a:r>
              <a:rPr lang="en-US" sz="8441">
                <a:solidFill>
                  <a:srgbClr val="262A41"/>
                </a:solidFill>
                <a:latin typeface="Anton"/>
                <a:ea typeface="Anton"/>
                <a:cs typeface="Anton"/>
                <a:sym typeface="Anton"/>
              </a:rPr>
              <a:t>Prep Discussion </a:t>
            </a:r>
          </a:p>
        </p:txBody>
      </p:sp>
      <p:sp>
        <p:nvSpPr>
          <p:cNvPr name="TextBox 5" id="5"/>
          <p:cNvSpPr txBox="true"/>
          <p:nvPr/>
        </p:nvSpPr>
        <p:spPr>
          <a:xfrm rot="0">
            <a:off x="2577928" y="4148030"/>
            <a:ext cx="13132144" cy="3406776"/>
          </a:xfrm>
          <a:prstGeom prst="rect">
            <a:avLst/>
          </a:prstGeom>
        </p:spPr>
        <p:txBody>
          <a:bodyPr anchor="t" rtlCol="false" tIns="0" lIns="0" bIns="0" rIns="0">
            <a:spAutoFit/>
          </a:bodyPr>
          <a:lstStyle/>
          <a:p>
            <a:pPr algn="ctr">
              <a:lnSpc>
                <a:spcPts val="9099"/>
              </a:lnSpc>
            </a:pPr>
            <a:r>
              <a:rPr lang="en-US" sz="6499">
                <a:solidFill>
                  <a:srgbClr val="262A41"/>
                </a:solidFill>
                <a:latin typeface="Canva Sans"/>
                <a:ea typeface="Canva Sans"/>
                <a:cs typeface="Canva Sans"/>
                <a:sym typeface="Canva Sans"/>
              </a:rPr>
              <a:t>How would you go about sorting these number? Is that the quickest way?</a:t>
            </a:r>
          </a:p>
        </p:txBody>
      </p:sp>
      <p:sp>
        <p:nvSpPr>
          <p:cNvPr name="TextBox 6" id="6"/>
          <p:cNvSpPr txBox="true"/>
          <p:nvPr/>
        </p:nvSpPr>
        <p:spPr>
          <a:xfrm rot="0">
            <a:off x="9640089" y="442929"/>
            <a:ext cx="8000851" cy="2734945"/>
          </a:xfrm>
          <a:prstGeom prst="rect">
            <a:avLst/>
          </a:prstGeom>
        </p:spPr>
        <p:txBody>
          <a:bodyPr anchor="t" rtlCol="false" tIns="0" lIns="0" bIns="0" rIns="0">
            <a:spAutoFit/>
          </a:bodyPr>
          <a:lstStyle/>
          <a:p>
            <a:pPr algn="ctr">
              <a:lnSpc>
                <a:spcPts val="7279"/>
              </a:lnSpc>
            </a:pPr>
            <a:r>
              <a:rPr lang="en-US" sz="5199" b="true">
                <a:solidFill>
                  <a:srgbClr val="262A41"/>
                </a:solidFill>
                <a:latin typeface="Canva Sans Bold"/>
                <a:ea typeface="Canva Sans Bold"/>
                <a:cs typeface="Canva Sans Bold"/>
                <a:sym typeface="Canva Sans Bold"/>
              </a:rPr>
              <a:t>Prep dataset:  </a:t>
            </a:r>
          </a:p>
          <a:p>
            <a:pPr algn="ctr">
              <a:lnSpc>
                <a:spcPts val="7279"/>
              </a:lnSpc>
            </a:pPr>
            <a:r>
              <a:rPr lang="en-US" sz="5199" b="true">
                <a:solidFill>
                  <a:srgbClr val="262A41"/>
                </a:solidFill>
                <a:latin typeface="Canva Sans Bold"/>
                <a:ea typeface="Canva Sans Bold"/>
                <a:cs typeface="Canva Sans Bold"/>
                <a:sym typeface="Canva Sans Bold"/>
              </a:rPr>
              <a:t>3, 42, 18, 21, 98, 53, 15, 77</a:t>
            </a:r>
          </a:p>
          <a:p>
            <a:pPr algn="ctr">
              <a:lnSpc>
                <a:spcPts val="727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158528" y="4024312"/>
            <a:ext cx="11970945" cy="2238375"/>
          </a:xfrm>
          <a:prstGeom prst="rect">
            <a:avLst/>
          </a:prstGeom>
        </p:spPr>
        <p:txBody>
          <a:bodyPr anchor="t" rtlCol="false" tIns="0" lIns="0" bIns="0" rIns="0">
            <a:spAutoFit/>
          </a:bodyPr>
          <a:lstStyle/>
          <a:p>
            <a:pPr algn="ctr">
              <a:lnSpc>
                <a:spcPts val="17687"/>
              </a:lnSpc>
            </a:pPr>
            <a:r>
              <a:rPr lang="en-US" sz="14739">
                <a:solidFill>
                  <a:srgbClr val="262A41"/>
                </a:solidFill>
                <a:latin typeface="Anton"/>
                <a:ea typeface="Anton"/>
                <a:cs typeface="Anton"/>
                <a:sym typeface="Anton"/>
              </a:rPr>
              <a:t>Introduction</a:t>
            </a:r>
          </a:p>
        </p:txBody>
      </p:sp>
      <p:sp>
        <p:nvSpPr>
          <p:cNvPr name="Freeform 3" id="3"/>
          <p:cNvSpPr/>
          <p:nvPr/>
        </p:nvSpPr>
        <p:spPr>
          <a:xfrm flipH="false" flipV="false" rot="1487684">
            <a:off x="-9230789" y="596328"/>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880175" y="-752320"/>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28349" y="-1307496"/>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flipV="true">
            <a:off x="15936337" y="4728580"/>
            <a:ext cx="0" cy="350200"/>
          </a:xfrm>
          <a:prstGeom prst="line">
            <a:avLst/>
          </a:prstGeom>
          <a:ln cap="flat" w="28575">
            <a:solidFill>
              <a:srgbClr val="262A41"/>
            </a:solidFill>
            <a:prstDash val="solid"/>
            <a:headEnd type="none" len="sm" w="sm"/>
            <a:tailEnd type="none" len="sm" w="sm"/>
          </a:ln>
        </p:spPr>
      </p:sp>
      <p:sp>
        <p:nvSpPr>
          <p:cNvPr name="Freeform 4" id="4"/>
          <p:cNvSpPr/>
          <p:nvPr/>
        </p:nvSpPr>
        <p:spPr>
          <a:xfrm flipH="false" flipV="false" rot="0">
            <a:off x="-4282447" y="-7727807"/>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249505" y="5447419"/>
            <a:ext cx="1373664" cy="1318718"/>
          </a:xfrm>
          <a:custGeom>
            <a:avLst/>
            <a:gdLst/>
            <a:ahLst/>
            <a:cxnLst/>
            <a:rect r="r" b="b" t="t" l="l"/>
            <a:pathLst>
              <a:path h="1318718" w="1373664">
                <a:moveTo>
                  <a:pt x="0" y="0"/>
                </a:moveTo>
                <a:lnTo>
                  <a:pt x="1373664" y="0"/>
                </a:lnTo>
                <a:lnTo>
                  <a:pt x="1373664" y="1318718"/>
                </a:lnTo>
                <a:lnTo>
                  <a:pt x="0" y="1318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28700" y="968491"/>
            <a:ext cx="11970945" cy="1279995"/>
          </a:xfrm>
          <a:prstGeom prst="rect">
            <a:avLst/>
          </a:prstGeom>
        </p:spPr>
        <p:txBody>
          <a:bodyPr anchor="t" rtlCol="false" tIns="0" lIns="0" bIns="0" rIns="0">
            <a:spAutoFit/>
          </a:bodyPr>
          <a:lstStyle/>
          <a:p>
            <a:pPr algn="l">
              <a:lnSpc>
                <a:spcPts val="10129"/>
              </a:lnSpc>
            </a:pPr>
            <a:r>
              <a:rPr lang="en-US" sz="8441">
                <a:solidFill>
                  <a:srgbClr val="262A41"/>
                </a:solidFill>
                <a:latin typeface="Anton"/>
                <a:ea typeface="Anton"/>
                <a:cs typeface="Anton"/>
                <a:sym typeface="Anton"/>
              </a:rPr>
              <a:t>What is Divide and Conquer</a:t>
            </a:r>
          </a:p>
        </p:txBody>
      </p:sp>
      <p:sp>
        <p:nvSpPr>
          <p:cNvPr name="TextBox 7" id="7"/>
          <p:cNvSpPr txBox="true"/>
          <p:nvPr/>
        </p:nvSpPr>
        <p:spPr>
          <a:xfrm rot="0">
            <a:off x="227112" y="3570359"/>
            <a:ext cx="17833777" cy="3658870"/>
          </a:xfrm>
          <a:prstGeom prst="rect">
            <a:avLst/>
          </a:prstGeom>
        </p:spPr>
        <p:txBody>
          <a:bodyPr anchor="t" rtlCol="false" tIns="0" lIns="0" bIns="0" rIns="0">
            <a:spAutoFit/>
          </a:bodyPr>
          <a:lstStyle/>
          <a:p>
            <a:pPr algn="l">
              <a:lnSpc>
                <a:spcPts val="7279"/>
              </a:lnSpc>
            </a:pPr>
            <a:r>
              <a:rPr lang="en-US" sz="5199" b="true">
                <a:solidFill>
                  <a:srgbClr val="262A41"/>
                </a:solidFill>
                <a:latin typeface="Canva Sans Bold"/>
                <a:ea typeface="Canva Sans Bold"/>
                <a:cs typeface="Canva Sans Bold"/>
                <a:sym typeface="Canva Sans Bold"/>
              </a:rPr>
              <a:t>Divide and conquer is a problem-solving technique that breaks a large, complex problem into smaller, more manageable subproblems and solves them independently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54557" y="-1189358"/>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826439" y="3919487"/>
            <a:ext cx="12484900" cy="10010620"/>
          </a:xfrm>
          <a:custGeom>
            <a:avLst/>
            <a:gdLst/>
            <a:ahLst/>
            <a:cxnLst/>
            <a:rect r="r" b="b" t="t" l="l"/>
            <a:pathLst>
              <a:path h="10010620" w="12484900">
                <a:moveTo>
                  <a:pt x="0" y="0"/>
                </a:moveTo>
                <a:lnTo>
                  <a:pt x="12484900" y="0"/>
                </a:lnTo>
                <a:lnTo>
                  <a:pt x="12484900" y="10010619"/>
                </a:lnTo>
                <a:lnTo>
                  <a:pt x="0" y="1001061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888664" y="6505097"/>
            <a:ext cx="1288728" cy="1288728"/>
          </a:xfrm>
          <a:custGeom>
            <a:avLst/>
            <a:gdLst/>
            <a:ahLst/>
            <a:cxnLst/>
            <a:rect r="r" b="b" t="t" l="l"/>
            <a:pathLst>
              <a:path h="1288728" w="1288728">
                <a:moveTo>
                  <a:pt x="0" y="0"/>
                </a:moveTo>
                <a:lnTo>
                  <a:pt x="1288729" y="0"/>
                </a:lnTo>
                <a:lnTo>
                  <a:pt x="1288729" y="1288729"/>
                </a:lnTo>
                <a:lnTo>
                  <a:pt x="0" y="12887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158528" y="4024312"/>
            <a:ext cx="11970945" cy="2238375"/>
          </a:xfrm>
          <a:prstGeom prst="rect">
            <a:avLst/>
          </a:prstGeom>
        </p:spPr>
        <p:txBody>
          <a:bodyPr anchor="t" rtlCol="false" tIns="0" lIns="0" bIns="0" rIns="0">
            <a:spAutoFit/>
          </a:bodyPr>
          <a:lstStyle/>
          <a:p>
            <a:pPr algn="ctr">
              <a:lnSpc>
                <a:spcPts val="17687"/>
              </a:lnSpc>
            </a:pPr>
            <a:r>
              <a:rPr lang="en-US" sz="14739">
                <a:solidFill>
                  <a:srgbClr val="262A41"/>
                </a:solidFill>
                <a:latin typeface="Anton"/>
                <a:ea typeface="Anton"/>
                <a:cs typeface="Anton"/>
                <a:sym typeface="Anton"/>
              </a:rPr>
              <a:t>Merge Sort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06360" y="388703"/>
            <a:ext cx="11970945" cy="1279995"/>
          </a:xfrm>
          <a:prstGeom prst="rect">
            <a:avLst/>
          </a:prstGeom>
        </p:spPr>
        <p:txBody>
          <a:bodyPr anchor="t" rtlCol="false" tIns="0" lIns="0" bIns="0" rIns="0">
            <a:spAutoFit/>
          </a:bodyPr>
          <a:lstStyle/>
          <a:p>
            <a:pPr algn="l">
              <a:lnSpc>
                <a:spcPts val="10129"/>
              </a:lnSpc>
            </a:pPr>
            <a:r>
              <a:rPr lang="en-US" sz="8441">
                <a:solidFill>
                  <a:srgbClr val="262A41"/>
                </a:solidFill>
                <a:latin typeface="Anton"/>
                <a:ea typeface="Anton"/>
                <a:cs typeface="Anton"/>
                <a:sym typeface="Anton"/>
              </a:rPr>
              <a:t>Merge Sort</a:t>
            </a:r>
          </a:p>
        </p:txBody>
      </p:sp>
      <p:sp>
        <p:nvSpPr>
          <p:cNvPr name="Freeform 3" id="3"/>
          <p:cNvSpPr/>
          <p:nvPr/>
        </p:nvSpPr>
        <p:spPr>
          <a:xfrm flipH="false" flipV="false" rot="0">
            <a:off x="10913277" y="-7340906"/>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3067" y="4706742"/>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13556" y="2472092"/>
            <a:ext cx="18174444" cy="1944369"/>
          </a:xfrm>
          <a:prstGeom prst="rect">
            <a:avLst/>
          </a:prstGeom>
        </p:spPr>
        <p:txBody>
          <a:bodyPr anchor="t" rtlCol="false" tIns="0" lIns="0" bIns="0" rIns="0">
            <a:spAutoFit/>
          </a:bodyPr>
          <a:lstStyle/>
          <a:p>
            <a:pPr algn="l">
              <a:lnSpc>
                <a:spcPts val="5180"/>
              </a:lnSpc>
            </a:pPr>
            <a:r>
              <a:rPr lang="en-US" sz="3700" b="true">
                <a:solidFill>
                  <a:srgbClr val="262A41"/>
                </a:solidFill>
                <a:latin typeface="Canva Sans Bold"/>
                <a:ea typeface="Canva Sans Bold"/>
                <a:cs typeface="Canva Sans Bold"/>
                <a:sym typeface="Canva Sans Bold"/>
              </a:rPr>
              <a:t>Definition: Merge Sort is a divide and conquer sorting algorithm. It solves a problem by breaking it into smaller pieces, solving those pieces, and then combining the results.</a:t>
            </a:r>
          </a:p>
        </p:txBody>
      </p:sp>
      <p:sp>
        <p:nvSpPr>
          <p:cNvPr name="TextBox 6" id="6"/>
          <p:cNvSpPr txBox="true"/>
          <p:nvPr/>
        </p:nvSpPr>
        <p:spPr>
          <a:xfrm rot="0">
            <a:off x="149383" y="5076825"/>
            <a:ext cx="17568246" cy="4311649"/>
          </a:xfrm>
          <a:prstGeom prst="rect">
            <a:avLst/>
          </a:prstGeom>
        </p:spPr>
        <p:txBody>
          <a:bodyPr anchor="t" rtlCol="false" tIns="0" lIns="0" bIns="0" rIns="0">
            <a:spAutoFit/>
          </a:bodyPr>
          <a:lstStyle/>
          <a:p>
            <a:pPr algn="l">
              <a:lnSpc>
                <a:spcPts val="4900"/>
              </a:lnSpc>
            </a:pPr>
            <a:r>
              <a:rPr lang="en-US" sz="3500" b="true">
                <a:solidFill>
                  <a:srgbClr val="262A41"/>
                </a:solidFill>
                <a:latin typeface="Canva Sans Bold"/>
                <a:ea typeface="Canva Sans Bold"/>
                <a:cs typeface="Canva Sans Bold"/>
                <a:sym typeface="Canva Sans Bold"/>
              </a:rPr>
              <a:t>If you have a list of numbers you want to sort, instead of trying to sort it all at once, Merge Sort:</a:t>
            </a:r>
          </a:p>
          <a:p>
            <a:pPr algn="l" marL="755659" indent="-377829" lvl="1">
              <a:lnSpc>
                <a:spcPts val="4900"/>
              </a:lnSpc>
              <a:buAutoNum type="arabicPeriod" startAt="1"/>
            </a:pPr>
            <a:r>
              <a:rPr lang="en-US" b="true" sz="3500">
                <a:solidFill>
                  <a:srgbClr val="262A41"/>
                </a:solidFill>
                <a:latin typeface="Canva Sans Bold"/>
                <a:ea typeface="Canva Sans Bold"/>
                <a:cs typeface="Canva Sans Bold"/>
                <a:sym typeface="Canva Sans Bold"/>
              </a:rPr>
              <a:t>Divides the list into halves repeatedly until each half has just one element. (A list of one item is automatically sorted!)</a:t>
            </a:r>
          </a:p>
          <a:p>
            <a:pPr algn="l" marL="755659" indent="-377829" lvl="1">
              <a:lnSpc>
                <a:spcPts val="4900"/>
              </a:lnSpc>
              <a:buAutoNum type="arabicPeriod" startAt="1"/>
            </a:pPr>
            <a:r>
              <a:rPr lang="en-US" b="true" sz="3500">
                <a:solidFill>
                  <a:srgbClr val="262A41"/>
                </a:solidFill>
                <a:latin typeface="Canva Sans Bold"/>
                <a:ea typeface="Canva Sans Bold"/>
                <a:cs typeface="Canva Sans Bold"/>
                <a:sym typeface="Canva Sans Bold"/>
              </a:rPr>
              <a:t>Conquers by recursively sorting those smaller lists.</a:t>
            </a:r>
          </a:p>
          <a:p>
            <a:pPr algn="l" marL="755659" indent="-377829" lvl="1">
              <a:lnSpc>
                <a:spcPts val="4900"/>
              </a:lnSpc>
              <a:buAutoNum type="arabicPeriod" startAt="1"/>
            </a:pPr>
            <a:r>
              <a:rPr lang="en-US" b="true" sz="3500">
                <a:solidFill>
                  <a:srgbClr val="262A41"/>
                </a:solidFill>
                <a:latin typeface="Canva Sans Bold"/>
                <a:ea typeface="Canva Sans Bold"/>
                <a:cs typeface="Canva Sans Bold"/>
                <a:sym typeface="Canva Sans Bold"/>
              </a:rPr>
              <a:t>Combines the smaller sorted lists back together in order </a:t>
            </a:r>
          </a:p>
          <a:p>
            <a:pPr algn="l">
              <a:lnSpc>
                <a:spcPts val="490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06360" y="388703"/>
            <a:ext cx="11970945" cy="1279995"/>
          </a:xfrm>
          <a:prstGeom prst="rect">
            <a:avLst/>
          </a:prstGeom>
        </p:spPr>
        <p:txBody>
          <a:bodyPr anchor="t" rtlCol="false" tIns="0" lIns="0" bIns="0" rIns="0">
            <a:spAutoFit/>
          </a:bodyPr>
          <a:lstStyle/>
          <a:p>
            <a:pPr algn="l">
              <a:lnSpc>
                <a:spcPts val="10129"/>
              </a:lnSpc>
            </a:pPr>
            <a:r>
              <a:rPr lang="en-US" sz="8441">
                <a:solidFill>
                  <a:srgbClr val="262A41"/>
                </a:solidFill>
                <a:latin typeface="Anton"/>
                <a:ea typeface="Anton"/>
                <a:cs typeface="Anton"/>
                <a:sym typeface="Anton"/>
              </a:rPr>
              <a:t>Merge Sort</a:t>
            </a:r>
          </a:p>
        </p:txBody>
      </p:sp>
      <p:sp>
        <p:nvSpPr>
          <p:cNvPr name="Freeform 3" id="3"/>
          <p:cNvSpPr/>
          <p:nvPr/>
        </p:nvSpPr>
        <p:spPr>
          <a:xfrm flipH="false" flipV="false" rot="0">
            <a:off x="10913277" y="-7340906"/>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3067" y="4706742"/>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1357350" y="1286999"/>
            <a:ext cx="8994617" cy="7971301"/>
          </a:xfrm>
          <a:prstGeom prst="rect">
            <a:avLst/>
          </a:prstGeom>
        </p:spPr>
        <p:txBody>
          <a:bodyPr anchor="t" rtlCol="false" tIns="0" lIns="0" bIns="0" rIns="0">
            <a:spAutoFit/>
          </a:bodyPr>
          <a:lstStyle/>
          <a:p>
            <a:pPr algn="l">
              <a:lnSpc>
                <a:spcPts val="6361"/>
              </a:lnSpc>
            </a:pPr>
            <a:r>
              <a:rPr lang="en-US" sz="4544" b="true">
                <a:solidFill>
                  <a:srgbClr val="262A41"/>
                </a:solidFill>
                <a:latin typeface="Canva Sans Bold"/>
                <a:ea typeface="Canva Sans Bold"/>
                <a:cs typeface="Canva Sans Bold"/>
                <a:sym typeface="Canva Sans Bold"/>
              </a:rPr>
              <a:t>Example dataset:  </a:t>
            </a:r>
          </a:p>
          <a:p>
            <a:pPr algn="l">
              <a:lnSpc>
                <a:spcPts val="6361"/>
              </a:lnSpc>
            </a:pPr>
            <a:r>
              <a:rPr lang="en-US" sz="4544" b="true">
                <a:solidFill>
                  <a:srgbClr val="262A41"/>
                </a:solidFill>
                <a:latin typeface="Canva Sans Bold"/>
                <a:ea typeface="Canva Sans Bold"/>
                <a:cs typeface="Canva Sans Bold"/>
                <a:sym typeface="Canva Sans Bold"/>
              </a:rPr>
              <a:t>Alice: Decile 18  </a:t>
            </a:r>
          </a:p>
          <a:p>
            <a:pPr algn="l">
              <a:lnSpc>
                <a:spcPts val="6361"/>
              </a:lnSpc>
            </a:pPr>
            <a:r>
              <a:rPr lang="en-US" sz="4544" b="true">
                <a:solidFill>
                  <a:srgbClr val="262A41"/>
                </a:solidFill>
                <a:latin typeface="Canva Sans Bold"/>
                <a:ea typeface="Canva Sans Bold"/>
                <a:cs typeface="Canva Sans Bold"/>
                <a:sym typeface="Canva Sans Bold"/>
              </a:rPr>
              <a:t>Bob: Decile 2  </a:t>
            </a:r>
          </a:p>
          <a:p>
            <a:pPr algn="l">
              <a:lnSpc>
                <a:spcPts val="6361"/>
              </a:lnSpc>
            </a:pPr>
            <a:r>
              <a:rPr lang="en-US" sz="4544" b="true">
                <a:solidFill>
                  <a:srgbClr val="262A41"/>
                </a:solidFill>
                <a:latin typeface="Canva Sans Bold"/>
                <a:ea typeface="Canva Sans Bold"/>
                <a:cs typeface="Canva Sans Bold"/>
                <a:sym typeface="Canva Sans Bold"/>
              </a:rPr>
              <a:t>Carmen: Decile 9  </a:t>
            </a:r>
          </a:p>
          <a:p>
            <a:pPr algn="l">
              <a:lnSpc>
                <a:spcPts val="6361"/>
              </a:lnSpc>
            </a:pPr>
            <a:r>
              <a:rPr lang="en-US" sz="4544" b="true">
                <a:solidFill>
                  <a:srgbClr val="262A41"/>
                </a:solidFill>
                <a:latin typeface="Canva Sans Bold"/>
                <a:ea typeface="Canva Sans Bold"/>
                <a:cs typeface="Canva Sans Bold"/>
                <a:sym typeface="Canva Sans Bold"/>
              </a:rPr>
              <a:t>David: Decile 14  </a:t>
            </a:r>
          </a:p>
          <a:p>
            <a:pPr algn="l">
              <a:lnSpc>
                <a:spcPts val="6361"/>
              </a:lnSpc>
            </a:pPr>
            <a:r>
              <a:rPr lang="en-US" sz="4544" b="true">
                <a:solidFill>
                  <a:srgbClr val="262A41"/>
                </a:solidFill>
                <a:latin typeface="Canva Sans Bold"/>
                <a:ea typeface="Canva Sans Bold"/>
                <a:cs typeface="Canva Sans Bold"/>
                <a:sym typeface="Canva Sans Bold"/>
              </a:rPr>
              <a:t>Ella: Decile 27  </a:t>
            </a:r>
          </a:p>
          <a:p>
            <a:pPr algn="l">
              <a:lnSpc>
                <a:spcPts val="6361"/>
              </a:lnSpc>
            </a:pPr>
            <a:r>
              <a:rPr lang="en-US" sz="4544" b="true">
                <a:solidFill>
                  <a:srgbClr val="262A41"/>
                </a:solidFill>
                <a:latin typeface="Canva Sans Bold"/>
                <a:ea typeface="Canva Sans Bold"/>
                <a:cs typeface="Canva Sans Bold"/>
                <a:sym typeface="Canva Sans Bold"/>
              </a:rPr>
              <a:t>Fred: Decile 31  </a:t>
            </a:r>
          </a:p>
          <a:p>
            <a:pPr algn="l">
              <a:lnSpc>
                <a:spcPts val="6361"/>
              </a:lnSpc>
            </a:pPr>
            <a:r>
              <a:rPr lang="en-US" sz="4544" b="true">
                <a:solidFill>
                  <a:srgbClr val="262A41"/>
                </a:solidFill>
                <a:latin typeface="Canva Sans Bold"/>
                <a:ea typeface="Canva Sans Bold"/>
                <a:cs typeface="Canva Sans Bold"/>
                <a:sym typeface="Canva Sans Bold"/>
              </a:rPr>
              <a:t>Grace: Decile 6  </a:t>
            </a:r>
          </a:p>
          <a:p>
            <a:pPr algn="l">
              <a:lnSpc>
                <a:spcPts val="6355"/>
              </a:lnSpc>
            </a:pPr>
            <a:r>
              <a:rPr lang="en-US" sz="4539" b="true">
                <a:solidFill>
                  <a:srgbClr val="262A41"/>
                </a:solidFill>
                <a:latin typeface="Canva Sans Bold"/>
                <a:ea typeface="Canva Sans Bold"/>
                <a:cs typeface="Canva Sans Bold"/>
                <a:sym typeface="Canva Sans Bold"/>
              </a:rPr>
              <a:t>Hank: Decile 35  </a:t>
            </a:r>
          </a:p>
          <a:p>
            <a:pPr algn="l">
              <a:lnSpc>
                <a:spcPts val="6361"/>
              </a:lnSpc>
            </a:pPr>
            <a:r>
              <a:rPr lang="en-US" sz="4544" b="true">
                <a:solidFill>
                  <a:srgbClr val="262A41"/>
                </a:solidFill>
                <a:latin typeface="Canva Sans Bold"/>
                <a:ea typeface="Canva Sans Bold"/>
                <a:cs typeface="Canva Sans Bold"/>
                <a:sym typeface="Canva Sans Bold"/>
              </a:rPr>
              <a:t> </a:t>
            </a:r>
          </a:p>
        </p:txBody>
      </p:sp>
      <p:sp>
        <p:nvSpPr>
          <p:cNvPr name="TextBox 6" id="6"/>
          <p:cNvSpPr txBox="true"/>
          <p:nvPr/>
        </p:nvSpPr>
        <p:spPr>
          <a:xfrm rot="0">
            <a:off x="665164" y="2521585"/>
            <a:ext cx="8478836" cy="5120005"/>
          </a:xfrm>
          <a:prstGeom prst="rect">
            <a:avLst/>
          </a:prstGeom>
        </p:spPr>
        <p:txBody>
          <a:bodyPr anchor="t" rtlCol="false" tIns="0" lIns="0" bIns="0" rIns="0">
            <a:spAutoFit/>
          </a:bodyPr>
          <a:lstStyle/>
          <a:p>
            <a:pPr algn="ctr">
              <a:lnSpc>
                <a:spcPts val="8119"/>
              </a:lnSpc>
            </a:pPr>
            <a:r>
              <a:rPr lang="en-US" sz="5799">
                <a:solidFill>
                  <a:srgbClr val="262A41"/>
                </a:solidFill>
                <a:latin typeface="Canva Sans"/>
                <a:ea typeface="Canva Sans"/>
                <a:cs typeface="Canva Sans"/>
                <a:sym typeface="Canva Sans"/>
              </a:rPr>
              <a:t>Sort these people by how likely they are to reoffend, where the highest number is most likely to reoffend?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810913" y="182059"/>
            <a:ext cx="11970945" cy="1285875"/>
          </a:xfrm>
          <a:prstGeom prst="rect">
            <a:avLst/>
          </a:prstGeom>
        </p:spPr>
        <p:txBody>
          <a:bodyPr anchor="t" rtlCol="false" tIns="0" lIns="0" bIns="0" rIns="0">
            <a:spAutoFit/>
          </a:bodyPr>
          <a:lstStyle/>
          <a:p>
            <a:pPr algn="l">
              <a:lnSpc>
                <a:spcPts val="10129"/>
              </a:lnSpc>
            </a:pPr>
            <a:r>
              <a:rPr lang="en-US" sz="8441">
                <a:solidFill>
                  <a:srgbClr val="262A41"/>
                </a:solidFill>
                <a:latin typeface="Anton"/>
                <a:ea typeface="Anton"/>
                <a:cs typeface="Anton"/>
                <a:sym typeface="Anton"/>
              </a:rPr>
              <a:t>Merge Sort</a:t>
            </a:r>
          </a:p>
        </p:txBody>
      </p:sp>
      <p:sp>
        <p:nvSpPr>
          <p:cNvPr name="Freeform 3" id="3"/>
          <p:cNvSpPr/>
          <p:nvPr/>
        </p:nvSpPr>
        <p:spPr>
          <a:xfrm flipH="false" flipV="false" rot="0">
            <a:off x="10913277" y="-7340906"/>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3067" y="4706742"/>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329209" y="392579"/>
            <a:ext cx="17958791" cy="11998959"/>
          </a:xfrm>
          <a:prstGeom prst="rect">
            <a:avLst/>
          </a:prstGeom>
        </p:spPr>
        <p:txBody>
          <a:bodyPr anchor="t" rtlCol="false" tIns="0" lIns="0" bIns="0" rIns="0">
            <a:spAutoFit/>
          </a:bodyPr>
          <a:lstStyle/>
          <a:p>
            <a:pPr algn="l">
              <a:lnSpc>
                <a:spcPts val="4480"/>
              </a:lnSpc>
            </a:pPr>
          </a:p>
          <a:p>
            <a:pPr algn="l">
              <a:lnSpc>
                <a:spcPts val="6440"/>
              </a:lnSpc>
            </a:pPr>
            <a:r>
              <a:rPr lang="en-US" sz="4600" b="true">
                <a:solidFill>
                  <a:srgbClr val="262A41"/>
                </a:solidFill>
                <a:latin typeface="Canva Sans Bold"/>
                <a:ea typeface="Canva Sans Bold"/>
                <a:cs typeface="Canva Sans Bold"/>
                <a:sym typeface="Canva Sans Bold"/>
              </a:rPr>
              <a:t>Divide: </a:t>
            </a:r>
          </a:p>
          <a:p>
            <a:pPr algn="l" marL="755659" indent="-377829" lvl="1">
              <a:lnSpc>
                <a:spcPts val="4900"/>
              </a:lnSpc>
              <a:buFont typeface="Arial"/>
              <a:buChar char="•"/>
            </a:pPr>
            <a:r>
              <a:rPr lang="en-US" b="true" sz="3500">
                <a:solidFill>
                  <a:srgbClr val="262A41"/>
                </a:solidFill>
                <a:latin typeface="Canva Sans Bold"/>
                <a:ea typeface="Canva Sans Bold"/>
                <a:cs typeface="Canva Sans Bold"/>
                <a:sym typeface="Canva Sans Bold"/>
              </a:rPr>
              <a:t>[18, 2, 9, 14]       [27, 31, 6, 35]</a:t>
            </a:r>
          </a:p>
          <a:p>
            <a:pPr algn="l" marL="755659" indent="-377829" lvl="1">
              <a:lnSpc>
                <a:spcPts val="4900"/>
              </a:lnSpc>
              <a:buFont typeface="Arial"/>
              <a:buChar char="•"/>
            </a:pPr>
            <a:r>
              <a:rPr lang="en-US" b="true" sz="3500">
                <a:solidFill>
                  <a:srgbClr val="262A41"/>
                </a:solidFill>
                <a:latin typeface="Canva Sans Bold"/>
                <a:ea typeface="Canva Sans Bold"/>
                <a:cs typeface="Canva Sans Bold"/>
                <a:sym typeface="Canva Sans Bold"/>
              </a:rPr>
              <a:t>[18, 2]   [9, 14]       [27, 31]   [6, 35]</a:t>
            </a:r>
          </a:p>
          <a:p>
            <a:pPr algn="l" marL="755659" indent="-377829" lvl="1">
              <a:lnSpc>
                <a:spcPts val="4900"/>
              </a:lnSpc>
              <a:buFont typeface="Arial"/>
              <a:buChar char="•"/>
            </a:pPr>
            <a:r>
              <a:rPr lang="en-US" b="true" sz="3500">
                <a:solidFill>
                  <a:srgbClr val="262A41"/>
                </a:solidFill>
                <a:latin typeface="Canva Sans Bold"/>
                <a:ea typeface="Canva Sans Bold"/>
                <a:cs typeface="Canva Sans Bold"/>
                <a:sym typeface="Canva Sans Bold"/>
              </a:rPr>
              <a:t>[18] [2] [9] [14] [27] [31] [6] [35]</a:t>
            </a:r>
          </a:p>
          <a:p>
            <a:pPr algn="l">
              <a:lnSpc>
                <a:spcPts val="6440"/>
              </a:lnSpc>
            </a:pPr>
            <a:r>
              <a:rPr lang="en-US" sz="4600" b="true">
                <a:solidFill>
                  <a:srgbClr val="262A41"/>
                </a:solidFill>
                <a:latin typeface="Canva Sans Bold"/>
                <a:ea typeface="Canva Sans Bold"/>
                <a:cs typeface="Canva Sans Bold"/>
                <a:sym typeface="Canva Sans Bold"/>
              </a:rPr>
              <a:t>Conquer and Merge: </a:t>
            </a:r>
          </a:p>
          <a:p>
            <a:pPr algn="l" marL="755659" indent="-377829" lvl="1">
              <a:lnSpc>
                <a:spcPts val="4900"/>
              </a:lnSpc>
              <a:buFont typeface="Arial"/>
              <a:buChar char="•"/>
            </a:pPr>
            <a:r>
              <a:rPr lang="en-US" b="true" sz="3500">
                <a:solidFill>
                  <a:srgbClr val="262A41"/>
                </a:solidFill>
                <a:latin typeface="Canva Sans Bold"/>
                <a:ea typeface="Canva Sans Bold"/>
                <a:cs typeface="Canva Sans Bold"/>
                <a:sym typeface="Canva Sans Bold"/>
              </a:rPr>
              <a:t>[18] + [2] → [2, 18]</a:t>
            </a:r>
          </a:p>
          <a:p>
            <a:pPr algn="l" marL="755659" indent="-377829" lvl="1">
              <a:lnSpc>
                <a:spcPts val="4900"/>
              </a:lnSpc>
              <a:buFont typeface="Arial"/>
              <a:buChar char="•"/>
            </a:pPr>
            <a:r>
              <a:rPr lang="en-US" b="true" sz="3500">
                <a:solidFill>
                  <a:srgbClr val="262A41"/>
                </a:solidFill>
                <a:latin typeface="Canva Sans Bold"/>
                <a:ea typeface="Canva Sans Bold"/>
                <a:cs typeface="Canva Sans Bold"/>
                <a:sym typeface="Canva Sans Bold"/>
              </a:rPr>
              <a:t>[9] + [14] → [9, 14]</a:t>
            </a:r>
          </a:p>
          <a:p>
            <a:pPr algn="l" marL="755659" indent="-377829" lvl="1">
              <a:lnSpc>
                <a:spcPts val="4900"/>
              </a:lnSpc>
              <a:buFont typeface="Arial"/>
              <a:buChar char="•"/>
            </a:pPr>
            <a:r>
              <a:rPr lang="en-US" b="true" sz="3500">
                <a:solidFill>
                  <a:srgbClr val="262A41"/>
                </a:solidFill>
                <a:latin typeface="Canva Sans Bold"/>
                <a:ea typeface="Canva Sans Bold"/>
                <a:cs typeface="Canva Sans Bold"/>
                <a:sym typeface="Canva Sans Bold"/>
              </a:rPr>
              <a:t>[27] + [31] → [27, 31]</a:t>
            </a:r>
          </a:p>
          <a:p>
            <a:pPr algn="l" marL="755659" indent="-377829" lvl="1">
              <a:lnSpc>
                <a:spcPts val="4900"/>
              </a:lnSpc>
              <a:buFont typeface="Arial"/>
              <a:buChar char="•"/>
            </a:pPr>
            <a:r>
              <a:rPr lang="en-US" b="true" sz="3500">
                <a:solidFill>
                  <a:srgbClr val="262A41"/>
                </a:solidFill>
                <a:latin typeface="Canva Sans Bold"/>
                <a:ea typeface="Canva Sans Bold"/>
                <a:cs typeface="Canva Sans Bold"/>
                <a:sym typeface="Canva Sans Bold"/>
              </a:rPr>
              <a:t>[6] + [35] → [6, 35]  </a:t>
            </a:r>
          </a:p>
          <a:p>
            <a:pPr algn="l" marL="755659" indent="-377829" lvl="1">
              <a:lnSpc>
                <a:spcPts val="4900"/>
              </a:lnSpc>
              <a:buFont typeface="Arial"/>
              <a:buChar char="•"/>
            </a:pPr>
            <a:r>
              <a:rPr lang="en-US" b="true" sz="3500">
                <a:solidFill>
                  <a:srgbClr val="262A41"/>
                </a:solidFill>
                <a:latin typeface="Canva Sans Bold"/>
                <a:ea typeface="Canva Sans Bold"/>
                <a:cs typeface="Canva Sans Bold"/>
                <a:sym typeface="Canva Sans Bold"/>
              </a:rPr>
              <a:t>[2, 18] + [9, 14] → [2, 9, 14, 18]</a:t>
            </a:r>
          </a:p>
          <a:p>
            <a:pPr algn="l" marL="755659" indent="-377829" lvl="1">
              <a:lnSpc>
                <a:spcPts val="4900"/>
              </a:lnSpc>
              <a:buFont typeface="Arial"/>
              <a:buChar char="•"/>
            </a:pPr>
            <a:r>
              <a:rPr lang="en-US" b="true" sz="3500">
                <a:solidFill>
                  <a:srgbClr val="262A41"/>
                </a:solidFill>
                <a:latin typeface="Canva Sans Bold"/>
                <a:ea typeface="Canva Sans Bold"/>
                <a:cs typeface="Canva Sans Bold"/>
                <a:sym typeface="Canva Sans Bold"/>
              </a:rPr>
              <a:t>[27, 31] + [6, 35] → [6, 27, 31, 35] </a:t>
            </a:r>
          </a:p>
          <a:p>
            <a:pPr algn="l" marL="755659" indent="-377829" lvl="1">
              <a:lnSpc>
                <a:spcPts val="4900"/>
              </a:lnSpc>
              <a:buFont typeface="Arial"/>
              <a:buChar char="•"/>
            </a:pPr>
            <a:r>
              <a:rPr lang="en-US" b="true" sz="3500">
                <a:solidFill>
                  <a:srgbClr val="262A41"/>
                </a:solidFill>
                <a:latin typeface="Canva Sans Bold"/>
                <a:ea typeface="Canva Sans Bold"/>
                <a:cs typeface="Canva Sans Bold"/>
                <a:sym typeface="Canva Sans Bold"/>
              </a:rPr>
              <a:t>[2, 9, 14, 18] + [6, 27, 31, 35] → [2, 6, 9, 14, 18, 27, 31, 35] </a:t>
            </a:r>
          </a:p>
          <a:p>
            <a:pPr algn="l" marL="755659" indent="-377829" lvl="1">
              <a:lnSpc>
                <a:spcPts val="4900"/>
              </a:lnSpc>
              <a:buFont typeface="Arial"/>
              <a:buChar char="•"/>
            </a:pPr>
            <a:r>
              <a:rPr lang="en-US" b="true" sz="3500">
                <a:solidFill>
                  <a:srgbClr val="262A41"/>
                </a:solidFill>
                <a:latin typeface="Canva Sans Bold"/>
                <a:ea typeface="Canva Sans Bold"/>
                <a:cs typeface="Canva Sans Bold"/>
                <a:sym typeface="Canva Sans Bold"/>
              </a:rPr>
              <a:t>[Bob, Grace, Carmen, David, Alice, Ella, Fred, Hank]</a:t>
            </a:r>
          </a:p>
          <a:p>
            <a:pPr algn="l">
              <a:lnSpc>
                <a:spcPts val="4900"/>
              </a:lnSpc>
            </a:pPr>
          </a:p>
          <a:p>
            <a:pPr algn="l">
              <a:lnSpc>
                <a:spcPts val="6580"/>
              </a:lnSpc>
            </a:pPr>
          </a:p>
          <a:p>
            <a:pPr algn="l">
              <a:lnSpc>
                <a:spcPts val="6300"/>
              </a:lnSpc>
            </a:pPr>
            <a:r>
              <a:rPr lang="en-US" sz="4500" b="true">
                <a:solidFill>
                  <a:srgbClr val="262A41"/>
                </a:solidFill>
                <a:latin typeface="Canva Sans Bold"/>
                <a:ea typeface="Canva Sans Bold"/>
                <a:cs typeface="Canva Sans Bold"/>
                <a:sym typeface="Canva Sans Bold"/>
              </a:rPr>
              <a:t> </a:t>
            </a:r>
          </a:p>
          <a:p>
            <a:pPr algn="l">
              <a:lnSpc>
                <a:spcPts val="6300"/>
              </a:lnSpc>
            </a:pPr>
          </a:p>
        </p:txBody>
      </p:sp>
      <p:sp>
        <p:nvSpPr>
          <p:cNvPr name="TextBox 6" id="6"/>
          <p:cNvSpPr txBox="true"/>
          <p:nvPr/>
        </p:nvSpPr>
        <p:spPr>
          <a:xfrm rot="0">
            <a:off x="13375421" y="2372111"/>
            <a:ext cx="7767758" cy="6886189"/>
          </a:xfrm>
          <a:prstGeom prst="rect">
            <a:avLst/>
          </a:prstGeom>
        </p:spPr>
        <p:txBody>
          <a:bodyPr anchor="t" rtlCol="false" tIns="0" lIns="0" bIns="0" rIns="0">
            <a:spAutoFit/>
          </a:bodyPr>
          <a:lstStyle/>
          <a:p>
            <a:pPr algn="l">
              <a:lnSpc>
                <a:spcPts val="5494"/>
              </a:lnSpc>
            </a:pPr>
            <a:r>
              <a:rPr lang="en-US" sz="3924" b="true">
                <a:solidFill>
                  <a:srgbClr val="262A41"/>
                </a:solidFill>
                <a:latin typeface="Canva Sans Bold"/>
                <a:ea typeface="Canva Sans Bold"/>
                <a:cs typeface="Canva Sans Bold"/>
                <a:sym typeface="Canva Sans Bold"/>
              </a:rPr>
              <a:t>Example dataset:  </a:t>
            </a:r>
          </a:p>
          <a:p>
            <a:pPr algn="l">
              <a:lnSpc>
                <a:spcPts val="5494"/>
              </a:lnSpc>
            </a:pPr>
            <a:r>
              <a:rPr lang="en-US" sz="3924" b="true">
                <a:solidFill>
                  <a:srgbClr val="262A41"/>
                </a:solidFill>
                <a:latin typeface="Canva Sans Bold"/>
                <a:ea typeface="Canva Sans Bold"/>
                <a:cs typeface="Canva Sans Bold"/>
                <a:sym typeface="Canva Sans Bold"/>
              </a:rPr>
              <a:t>Alice: Decile 18  </a:t>
            </a:r>
          </a:p>
          <a:p>
            <a:pPr algn="l">
              <a:lnSpc>
                <a:spcPts val="5494"/>
              </a:lnSpc>
            </a:pPr>
            <a:r>
              <a:rPr lang="en-US" sz="3924" b="true">
                <a:solidFill>
                  <a:srgbClr val="262A41"/>
                </a:solidFill>
                <a:latin typeface="Canva Sans Bold"/>
                <a:ea typeface="Canva Sans Bold"/>
                <a:cs typeface="Canva Sans Bold"/>
                <a:sym typeface="Canva Sans Bold"/>
              </a:rPr>
              <a:t>Bob: Decile 2  </a:t>
            </a:r>
          </a:p>
          <a:p>
            <a:pPr algn="l">
              <a:lnSpc>
                <a:spcPts val="5494"/>
              </a:lnSpc>
            </a:pPr>
            <a:r>
              <a:rPr lang="en-US" sz="3924" b="true">
                <a:solidFill>
                  <a:srgbClr val="262A41"/>
                </a:solidFill>
                <a:latin typeface="Canva Sans Bold"/>
                <a:ea typeface="Canva Sans Bold"/>
                <a:cs typeface="Canva Sans Bold"/>
                <a:sym typeface="Canva Sans Bold"/>
              </a:rPr>
              <a:t>Carmen: Decile 9  </a:t>
            </a:r>
          </a:p>
          <a:p>
            <a:pPr algn="l">
              <a:lnSpc>
                <a:spcPts val="5494"/>
              </a:lnSpc>
            </a:pPr>
            <a:r>
              <a:rPr lang="en-US" sz="3924" b="true">
                <a:solidFill>
                  <a:srgbClr val="262A41"/>
                </a:solidFill>
                <a:latin typeface="Canva Sans Bold"/>
                <a:ea typeface="Canva Sans Bold"/>
                <a:cs typeface="Canva Sans Bold"/>
                <a:sym typeface="Canva Sans Bold"/>
              </a:rPr>
              <a:t>David: Decile 14  </a:t>
            </a:r>
          </a:p>
          <a:p>
            <a:pPr algn="l">
              <a:lnSpc>
                <a:spcPts val="5494"/>
              </a:lnSpc>
            </a:pPr>
            <a:r>
              <a:rPr lang="en-US" sz="3924" b="true">
                <a:solidFill>
                  <a:srgbClr val="262A41"/>
                </a:solidFill>
                <a:latin typeface="Canva Sans Bold"/>
                <a:ea typeface="Canva Sans Bold"/>
                <a:cs typeface="Canva Sans Bold"/>
                <a:sym typeface="Canva Sans Bold"/>
              </a:rPr>
              <a:t>Ella: Decile 27  </a:t>
            </a:r>
          </a:p>
          <a:p>
            <a:pPr algn="l">
              <a:lnSpc>
                <a:spcPts val="5494"/>
              </a:lnSpc>
            </a:pPr>
            <a:r>
              <a:rPr lang="en-US" sz="3924" b="true">
                <a:solidFill>
                  <a:srgbClr val="262A41"/>
                </a:solidFill>
                <a:latin typeface="Canva Sans Bold"/>
                <a:ea typeface="Canva Sans Bold"/>
                <a:cs typeface="Canva Sans Bold"/>
                <a:sym typeface="Canva Sans Bold"/>
              </a:rPr>
              <a:t>Fred: Decile 31  </a:t>
            </a:r>
          </a:p>
          <a:p>
            <a:pPr algn="l">
              <a:lnSpc>
                <a:spcPts val="5494"/>
              </a:lnSpc>
            </a:pPr>
            <a:r>
              <a:rPr lang="en-US" sz="3924" b="true">
                <a:solidFill>
                  <a:srgbClr val="262A41"/>
                </a:solidFill>
                <a:latin typeface="Canva Sans Bold"/>
                <a:ea typeface="Canva Sans Bold"/>
                <a:cs typeface="Canva Sans Bold"/>
                <a:sym typeface="Canva Sans Bold"/>
              </a:rPr>
              <a:t>Grace: Decile 6  </a:t>
            </a:r>
          </a:p>
          <a:p>
            <a:pPr algn="l">
              <a:lnSpc>
                <a:spcPts val="5489"/>
              </a:lnSpc>
            </a:pPr>
            <a:r>
              <a:rPr lang="en-US" sz="3920" b="true">
                <a:solidFill>
                  <a:srgbClr val="262A41"/>
                </a:solidFill>
                <a:latin typeface="Canva Sans Bold"/>
                <a:ea typeface="Canva Sans Bold"/>
                <a:cs typeface="Canva Sans Bold"/>
                <a:sym typeface="Canva Sans Bold"/>
              </a:rPr>
              <a:t>Hank: Decile 35  </a:t>
            </a:r>
          </a:p>
          <a:p>
            <a:pPr algn="l">
              <a:lnSpc>
                <a:spcPts val="5494"/>
              </a:lnSpc>
            </a:pPr>
            <a:r>
              <a:rPr lang="en-US" sz="3924" b="true">
                <a:solidFill>
                  <a:srgbClr val="262A41"/>
                </a:solidFill>
                <a:latin typeface="Canva Sans Bold"/>
                <a:ea typeface="Canva Sans Bold"/>
                <a:cs typeface="Canva Sans Bold"/>
                <a:sym typeface="Canva Sans Bold"/>
              </a:rPr>
              <a:t>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68491"/>
            <a:ext cx="11970945" cy="1279995"/>
          </a:xfrm>
          <a:prstGeom prst="rect">
            <a:avLst/>
          </a:prstGeom>
        </p:spPr>
        <p:txBody>
          <a:bodyPr anchor="t" rtlCol="false" tIns="0" lIns="0" bIns="0" rIns="0">
            <a:spAutoFit/>
          </a:bodyPr>
          <a:lstStyle/>
          <a:p>
            <a:pPr algn="l">
              <a:lnSpc>
                <a:spcPts val="10129"/>
              </a:lnSpc>
            </a:pPr>
            <a:r>
              <a:rPr lang="en-US" sz="8441">
                <a:solidFill>
                  <a:srgbClr val="262A41"/>
                </a:solidFill>
                <a:latin typeface="Anton"/>
                <a:ea typeface="Anton"/>
                <a:cs typeface="Anton"/>
                <a:sym typeface="Anton"/>
              </a:rPr>
              <a:t>Merge Sort (Group Work)</a:t>
            </a:r>
          </a:p>
        </p:txBody>
      </p:sp>
      <p:sp>
        <p:nvSpPr>
          <p:cNvPr name="Freeform 3" id="3"/>
          <p:cNvSpPr/>
          <p:nvPr/>
        </p:nvSpPr>
        <p:spPr>
          <a:xfrm flipH="false" flipV="false" rot="0">
            <a:off x="10913277" y="-7340906"/>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3067" y="4706742"/>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291975" y="3119120"/>
            <a:ext cx="11991176" cy="5915660"/>
          </a:xfrm>
          <a:prstGeom prst="rect">
            <a:avLst/>
          </a:prstGeom>
        </p:spPr>
        <p:txBody>
          <a:bodyPr anchor="t" rtlCol="false" tIns="0" lIns="0" bIns="0" rIns="0">
            <a:spAutoFit/>
          </a:bodyPr>
          <a:lstStyle/>
          <a:p>
            <a:pPr algn="l">
              <a:lnSpc>
                <a:spcPts val="7839"/>
              </a:lnSpc>
            </a:pPr>
            <a:r>
              <a:rPr lang="en-US" sz="5599" b="true">
                <a:solidFill>
                  <a:srgbClr val="262A41"/>
                </a:solidFill>
                <a:latin typeface="Canva Sans Bold"/>
                <a:ea typeface="Canva Sans Bold"/>
                <a:cs typeface="Canva Sans Bold"/>
                <a:sym typeface="Canva Sans Bold"/>
              </a:rPr>
              <a:t>Practice List: </a:t>
            </a:r>
          </a:p>
          <a:p>
            <a:pPr algn="l" marL="1209037" indent="-604519" lvl="1">
              <a:lnSpc>
                <a:spcPts val="7839"/>
              </a:lnSpc>
              <a:buFont typeface="Arial"/>
              <a:buChar char="•"/>
            </a:pPr>
            <a:r>
              <a:rPr lang="en-US" b="true" sz="5599">
                <a:solidFill>
                  <a:srgbClr val="262A41"/>
                </a:solidFill>
                <a:latin typeface="Canva Sans Bold"/>
                <a:ea typeface="Canva Sans Bold"/>
                <a:cs typeface="Canva Sans Bold"/>
                <a:sym typeface="Canva Sans Bold"/>
              </a:rPr>
              <a:t>[Alice, Ella, Fred, Grace, Mona]</a:t>
            </a:r>
          </a:p>
          <a:p>
            <a:pPr algn="l" marL="1209037" indent="-604519" lvl="1">
              <a:lnSpc>
                <a:spcPts val="7839"/>
              </a:lnSpc>
              <a:buFont typeface="Arial"/>
              <a:buChar char="•"/>
            </a:pPr>
            <a:r>
              <a:rPr lang="en-US" b="true" sz="5599">
                <a:solidFill>
                  <a:srgbClr val="262A41"/>
                </a:solidFill>
                <a:latin typeface="Canva Sans Bold"/>
                <a:ea typeface="Canva Sans Bold"/>
                <a:cs typeface="Canva Sans Bold"/>
                <a:sym typeface="Canva Sans Bold"/>
              </a:rPr>
              <a:t>[Elsa, Bob, Fred, Grace, Caremen, Harry, Hank, Dream]</a:t>
            </a:r>
          </a:p>
          <a:p>
            <a:pPr algn="l" marL="1209037" indent="-604519" lvl="1">
              <a:lnSpc>
                <a:spcPts val="7839"/>
              </a:lnSpc>
              <a:buFont typeface="Arial"/>
              <a:buChar char="•"/>
            </a:pPr>
            <a:r>
              <a:rPr lang="en-US" b="true" sz="5599">
                <a:solidFill>
                  <a:srgbClr val="262A41"/>
                </a:solidFill>
                <a:latin typeface="Canva Sans Bold"/>
                <a:ea typeface="Canva Sans Bold"/>
                <a:cs typeface="Canva Sans Bold"/>
                <a:sym typeface="Canva Sans Bold"/>
              </a:rPr>
              <a:t>[Harry, Ella, Alice, Elsa, Mona, Bob, Hank, Fred, David]</a:t>
            </a:r>
          </a:p>
        </p:txBody>
      </p:sp>
      <p:sp>
        <p:nvSpPr>
          <p:cNvPr name="TextBox 6" id="6"/>
          <p:cNvSpPr txBox="true"/>
          <p:nvPr/>
        </p:nvSpPr>
        <p:spPr>
          <a:xfrm rot="0">
            <a:off x="12999645" y="399138"/>
            <a:ext cx="7900539" cy="9110980"/>
          </a:xfrm>
          <a:prstGeom prst="rect">
            <a:avLst/>
          </a:prstGeom>
        </p:spPr>
        <p:txBody>
          <a:bodyPr anchor="t" rtlCol="false" tIns="0" lIns="0" bIns="0" rIns="0">
            <a:spAutoFit/>
          </a:bodyPr>
          <a:lstStyle/>
          <a:p>
            <a:pPr algn="l">
              <a:lnSpc>
                <a:spcPts val="5588"/>
              </a:lnSpc>
            </a:pPr>
            <a:r>
              <a:rPr lang="en-US" sz="3991" b="true">
                <a:solidFill>
                  <a:srgbClr val="262A41"/>
                </a:solidFill>
                <a:latin typeface="Canva Sans Bold"/>
                <a:ea typeface="Canva Sans Bold"/>
                <a:cs typeface="Canva Sans Bold"/>
                <a:sym typeface="Canva Sans Bold"/>
              </a:rPr>
              <a:t>Dataset:  </a:t>
            </a:r>
          </a:p>
          <a:p>
            <a:pPr algn="l">
              <a:lnSpc>
                <a:spcPts val="5588"/>
              </a:lnSpc>
            </a:pPr>
            <a:r>
              <a:rPr lang="en-US" sz="3991" b="true">
                <a:solidFill>
                  <a:srgbClr val="262A41"/>
                </a:solidFill>
                <a:latin typeface="Canva Sans Bold"/>
                <a:ea typeface="Canva Sans Bold"/>
                <a:cs typeface="Canva Sans Bold"/>
                <a:sym typeface="Canva Sans Bold"/>
              </a:rPr>
              <a:t>Alice: Decile 18  </a:t>
            </a:r>
          </a:p>
          <a:p>
            <a:pPr algn="l">
              <a:lnSpc>
                <a:spcPts val="5588"/>
              </a:lnSpc>
            </a:pPr>
            <a:r>
              <a:rPr lang="en-US" sz="3991" b="true">
                <a:solidFill>
                  <a:srgbClr val="262A41"/>
                </a:solidFill>
                <a:latin typeface="Canva Sans Bold"/>
                <a:ea typeface="Canva Sans Bold"/>
                <a:cs typeface="Canva Sans Bold"/>
                <a:sym typeface="Canva Sans Bold"/>
              </a:rPr>
              <a:t>Bob: Decile 2  </a:t>
            </a:r>
          </a:p>
          <a:p>
            <a:pPr algn="l">
              <a:lnSpc>
                <a:spcPts val="5588"/>
              </a:lnSpc>
            </a:pPr>
            <a:r>
              <a:rPr lang="en-US" sz="3991" b="true">
                <a:solidFill>
                  <a:srgbClr val="262A41"/>
                </a:solidFill>
                <a:latin typeface="Canva Sans Bold"/>
                <a:ea typeface="Canva Sans Bold"/>
                <a:cs typeface="Canva Sans Bold"/>
                <a:sym typeface="Canva Sans Bold"/>
              </a:rPr>
              <a:t>Carmen: Decile 9  </a:t>
            </a:r>
          </a:p>
          <a:p>
            <a:pPr algn="l">
              <a:lnSpc>
                <a:spcPts val="5588"/>
              </a:lnSpc>
            </a:pPr>
            <a:r>
              <a:rPr lang="en-US" sz="3991" b="true">
                <a:solidFill>
                  <a:srgbClr val="262A41"/>
                </a:solidFill>
                <a:latin typeface="Canva Sans Bold"/>
                <a:ea typeface="Canva Sans Bold"/>
                <a:cs typeface="Canva Sans Bold"/>
                <a:sym typeface="Canva Sans Bold"/>
              </a:rPr>
              <a:t>David: Decile 14  </a:t>
            </a:r>
          </a:p>
          <a:p>
            <a:pPr algn="l">
              <a:lnSpc>
                <a:spcPts val="5588"/>
              </a:lnSpc>
            </a:pPr>
            <a:r>
              <a:rPr lang="en-US" sz="3991" b="true">
                <a:solidFill>
                  <a:srgbClr val="262A41"/>
                </a:solidFill>
                <a:latin typeface="Canva Sans Bold"/>
                <a:ea typeface="Canva Sans Bold"/>
                <a:cs typeface="Canva Sans Bold"/>
                <a:sym typeface="Canva Sans Bold"/>
              </a:rPr>
              <a:t>Ella: Decile 27  </a:t>
            </a:r>
          </a:p>
          <a:p>
            <a:pPr algn="l">
              <a:lnSpc>
                <a:spcPts val="5588"/>
              </a:lnSpc>
            </a:pPr>
            <a:r>
              <a:rPr lang="en-US" sz="3991" b="true">
                <a:solidFill>
                  <a:srgbClr val="262A41"/>
                </a:solidFill>
                <a:latin typeface="Canva Sans Bold"/>
                <a:ea typeface="Canva Sans Bold"/>
                <a:cs typeface="Canva Sans Bold"/>
                <a:sym typeface="Canva Sans Bold"/>
              </a:rPr>
              <a:t>Fred: Decile 31  </a:t>
            </a:r>
          </a:p>
          <a:p>
            <a:pPr algn="l">
              <a:lnSpc>
                <a:spcPts val="5588"/>
              </a:lnSpc>
            </a:pPr>
            <a:r>
              <a:rPr lang="en-US" sz="3991" b="true">
                <a:solidFill>
                  <a:srgbClr val="262A41"/>
                </a:solidFill>
                <a:latin typeface="Canva Sans Bold"/>
                <a:ea typeface="Canva Sans Bold"/>
                <a:cs typeface="Canva Sans Bold"/>
                <a:sym typeface="Canva Sans Bold"/>
              </a:rPr>
              <a:t>Grace: Decile 6  </a:t>
            </a:r>
          </a:p>
          <a:p>
            <a:pPr algn="l">
              <a:lnSpc>
                <a:spcPts val="5582"/>
              </a:lnSpc>
            </a:pPr>
            <a:r>
              <a:rPr lang="en-US" sz="3987" b="true">
                <a:solidFill>
                  <a:srgbClr val="262A41"/>
                </a:solidFill>
                <a:latin typeface="Canva Sans Bold"/>
                <a:ea typeface="Canva Sans Bold"/>
                <a:cs typeface="Canva Sans Bold"/>
                <a:sym typeface="Canva Sans Bold"/>
              </a:rPr>
              <a:t>Hank: Decile 35 </a:t>
            </a:r>
          </a:p>
          <a:p>
            <a:pPr algn="l">
              <a:lnSpc>
                <a:spcPts val="5582"/>
              </a:lnSpc>
            </a:pPr>
            <a:r>
              <a:rPr lang="en-US" sz="3987" b="true">
                <a:solidFill>
                  <a:srgbClr val="262A41"/>
                </a:solidFill>
                <a:latin typeface="Canva Sans Bold"/>
                <a:ea typeface="Canva Sans Bold"/>
                <a:cs typeface="Canva Sans Bold"/>
                <a:sym typeface="Canva Sans Bold"/>
              </a:rPr>
              <a:t>Harry: Decile 48 </a:t>
            </a:r>
          </a:p>
          <a:p>
            <a:pPr algn="l">
              <a:lnSpc>
                <a:spcPts val="5582"/>
              </a:lnSpc>
            </a:pPr>
            <a:r>
              <a:rPr lang="en-US" sz="3987" b="true">
                <a:solidFill>
                  <a:srgbClr val="262A41"/>
                </a:solidFill>
                <a:latin typeface="Canva Sans Bold"/>
                <a:ea typeface="Canva Sans Bold"/>
                <a:cs typeface="Canva Sans Bold"/>
                <a:sym typeface="Canva Sans Bold"/>
              </a:rPr>
              <a:t>Dream: Decile 29</a:t>
            </a:r>
          </a:p>
          <a:p>
            <a:pPr algn="l">
              <a:lnSpc>
                <a:spcPts val="5582"/>
              </a:lnSpc>
            </a:pPr>
            <a:r>
              <a:rPr lang="en-US" sz="3987" b="true">
                <a:solidFill>
                  <a:srgbClr val="262A41"/>
                </a:solidFill>
                <a:latin typeface="Canva Sans Bold"/>
                <a:ea typeface="Canva Sans Bold"/>
                <a:cs typeface="Canva Sans Bold"/>
                <a:sym typeface="Canva Sans Bold"/>
              </a:rPr>
              <a:t>Elsa: Decile 51</a:t>
            </a:r>
          </a:p>
          <a:p>
            <a:pPr algn="l">
              <a:lnSpc>
                <a:spcPts val="5582"/>
              </a:lnSpc>
            </a:pPr>
            <a:r>
              <a:rPr lang="en-US" sz="3987" b="true">
                <a:solidFill>
                  <a:srgbClr val="262A41"/>
                </a:solidFill>
                <a:latin typeface="Canva Sans Bold"/>
                <a:ea typeface="Canva Sans Bold"/>
                <a:cs typeface="Canva Sans Bold"/>
                <a:sym typeface="Canva Sans Bold"/>
              </a:rPr>
              <a:t>Mona: Decile 13</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54557" y="-1189358"/>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826439" y="3919487"/>
            <a:ext cx="12484900" cy="10010620"/>
          </a:xfrm>
          <a:custGeom>
            <a:avLst/>
            <a:gdLst/>
            <a:ahLst/>
            <a:cxnLst/>
            <a:rect r="r" b="b" t="t" l="l"/>
            <a:pathLst>
              <a:path h="10010620" w="12484900">
                <a:moveTo>
                  <a:pt x="0" y="0"/>
                </a:moveTo>
                <a:lnTo>
                  <a:pt x="12484900" y="0"/>
                </a:lnTo>
                <a:lnTo>
                  <a:pt x="12484900" y="10010619"/>
                </a:lnTo>
                <a:lnTo>
                  <a:pt x="0" y="1001061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888664" y="6505097"/>
            <a:ext cx="1288728" cy="1288728"/>
          </a:xfrm>
          <a:custGeom>
            <a:avLst/>
            <a:gdLst/>
            <a:ahLst/>
            <a:cxnLst/>
            <a:rect r="r" b="b" t="t" l="l"/>
            <a:pathLst>
              <a:path h="1288728" w="1288728">
                <a:moveTo>
                  <a:pt x="0" y="0"/>
                </a:moveTo>
                <a:lnTo>
                  <a:pt x="1288729" y="0"/>
                </a:lnTo>
                <a:lnTo>
                  <a:pt x="1288729" y="1288729"/>
                </a:lnTo>
                <a:lnTo>
                  <a:pt x="0" y="12887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158528" y="4024312"/>
            <a:ext cx="11970945" cy="2238375"/>
          </a:xfrm>
          <a:prstGeom prst="rect">
            <a:avLst/>
          </a:prstGeom>
        </p:spPr>
        <p:txBody>
          <a:bodyPr anchor="t" rtlCol="false" tIns="0" lIns="0" bIns="0" rIns="0">
            <a:spAutoFit/>
          </a:bodyPr>
          <a:lstStyle/>
          <a:p>
            <a:pPr algn="ctr">
              <a:lnSpc>
                <a:spcPts val="17687"/>
              </a:lnSpc>
            </a:pPr>
            <a:r>
              <a:rPr lang="en-US" sz="14739">
                <a:solidFill>
                  <a:srgbClr val="262A41"/>
                </a:solidFill>
                <a:latin typeface="Anton"/>
                <a:ea typeface="Anton"/>
                <a:cs typeface="Anton"/>
                <a:sym typeface="Anton"/>
              </a:rPr>
              <a:t>Binary Search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9383" y="214786"/>
            <a:ext cx="11970945" cy="1279995"/>
          </a:xfrm>
          <a:prstGeom prst="rect">
            <a:avLst/>
          </a:prstGeom>
        </p:spPr>
        <p:txBody>
          <a:bodyPr anchor="t" rtlCol="false" tIns="0" lIns="0" bIns="0" rIns="0">
            <a:spAutoFit/>
          </a:bodyPr>
          <a:lstStyle/>
          <a:p>
            <a:pPr algn="l">
              <a:lnSpc>
                <a:spcPts val="10129"/>
              </a:lnSpc>
            </a:pPr>
            <a:r>
              <a:rPr lang="en-US" sz="8441">
                <a:solidFill>
                  <a:srgbClr val="262A41"/>
                </a:solidFill>
                <a:latin typeface="Anton"/>
                <a:ea typeface="Anton"/>
                <a:cs typeface="Anton"/>
                <a:sym typeface="Anton"/>
              </a:rPr>
              <a:t>Binary Search</a:t>
            </a:r>
          </a:p>
        </p:txBody>
      </p:sp>
      <p:sp>
        <p:nvSpPr>
          <p:cNvPr name="Freeform 3" id="3"/>
          <p:cNvSpPr/>
          <p:nvPr/>
        </p:nvSpPr>
        <p:spPr>
          <a:xfrm flipH="false" flipV="false" rot="0">
            <a:off x="10913277" y="-7340906"/>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3067" y="4706742"/>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49383" y="1884681"/>
            <a:ext cx="18138617" cy="3258819"/>
          </a:xfrm>
          <a:prstGeom prst="rect">
            <a:avLst/>
          </a:prstGeom>
        </p:spPr>
        <p:txBody>
          <a:bodyPr anchor="t" rtlCol="false" tIns="0" lIns="0" bIns="0" rIns="0">
            <a:spAutoFit/>
          </a:bodyPr>
          <a:lstStyle/>
          <a:p>
            <a:pPr algn="l">
              <a:lnSpc>
                <a:spcPts val="5180"/>
              </a:lnSpc>
            </a:pPr>
            <a:r>
              <a:rPr lang="en-US" sz="3700" b="true">
                <a:solidFill>
                  <a:srgbClr val="262A41"/>
                </a:solidFill>
                <a:latin typeface="Canva Sans Bold"/>
                <a:ea typeface="Canva Sans Bold"/>
                <a:cs typeface="Canva Sans Bold"/>
                <a:sym typeface="Canva Sans Bold"/>
              </a:rPr>
              <a:t>Definition: Binary Search is a divide and conquer algorithm used to find a target value in a </a:t>
            </a:r>
            <a:r>
              <a:rPr lang="en-US" sz="3700" i="true" b="true">
                <a:solidFill>
                  <a:srgbClr val="262A41"/>
                </a:solidFill>
                <a:latin typeface="Canva Sans Bold Italics"/>
                <a:ea typeface="Canva Sans Bold Italics"/>
                <a:cs typeface="Canva Sans Bold Italics"/>
                <a:sym typeface="Canva Sans Bold Italics"/>
              </a:rPr>
              <a:t>sorted list</a:t>
            </a:r>
            <a:r>
              <a:rPr lang="en-US" sz="3700" b="true">
                <a:solidFill>
                  <a:srgbClr val="262A41"/>
                </a:solidFill>
                <a:latin typeface="Canva Sans Bold"/>
                <a:ea typeface="Canva Sans Bold"/>
                <a:cs typeface="Canva Sans Bold"/>
                <a:sym typeface="Canva Sans Bold"/>
              </a:rPr>
              <a:t> quickly. Instead of checking every element one by one, it repeatedly divides the search range in half until it either finds the target or determines that the target is not in the list.</a:t>
            </a:r>
          </a:p>
          <a:p>
            <a:pPr algn="l">
              <a:lnSpc>
                <a:spcPts val="5180"/>
              </a:lnSpc>
            </a:pPr>
          </a:p>
        </p:txBody>
      </p:sp>
      <p:sp>
        <p:nvSpPr>
          <p:cNvPr name="TextBox 6" id="6"/>
          <p:cNvSpPr txBox="true"/>
          <p:nvPr/>
        </p:nvSpPr>
        <p:spPr>
          <a:xfrm rot="0">
            <a:off x="149383" y="4781278"/>
            <a:ext cx="17568246" cy="4930774"/>
          </a:xfrm>
          <a:prstGeom prst="rect">
            <a:avLst/>
          </a:prstGeom>
        </p:spPr>
        <p:txBody>
          <a:bodyPr anchor="t" rtlCol="false" tIns="0" lIns="0" bIns="0" rIns="0">
            <a:spAutoFit/>
          </a:bodyPr>
          <a:lstStyle/>
          <a:p>
            <a:pPr algn="l">
              <a:lnSpc>
                <a:spcPts val="4900"/>
              </a:lnSpc>
            </a:pPr>
            <a:r>
              <a:rPr lang="en-US" sz="3500" b="true">
                <a:solidFill>
                  <a:srgbClr val="262A41"/>
                </a:solidFill>
                <a:latin typeface="Canva Sans Bold"/>
                <a:ea typeface="Canva Sans Bold"/>
                <a:cs typeface="Canva Sans Bold"/>
                <a:sym typeface="Canva Sans Bold"/>
              </a:rPr>
              <a:t>How to:</a:t>
            </a:r>
          </a:p>
          <a:p>
            <a:pPr algn="l" marL="755659" indent="-377829" lvl="1">
              <a:lnSpc>
                <a:spcPts val="4900"/>
              </a:lnSpc>
              <a:buAutoNum type="arabicPeriod" startAt="1"/>
            </a:pPr>
            <a:r>
              <a:rPr lang="en-US" b="true" sz="3500">
                <a:solidFill>
                  <a:srgbClr val="262A41"/>
                </a:solidFill>
                <a:latin typeface="Canva Sans Bold"/>
                <a:ea typeface="Canva Sans Bold"/>
                <a:cs typeface="Canva Sans Bold"/>
                <a:sym typeface="Canva Sans Bold"/>
              </a:rPr>
              <a:t>Start with the entire sorted list.</a:t>
            </a:r>
          </a:p>
          <a:p>
            <a:pPr algn="l" marL="755659" indent="-377829" lvl="1">
              <a:lnSpc>
                <a:spcPts val="4900"/>
              </a:lnSpc>
              <a:buAutoNum type="arabicPeriod" startAt="1"/>
            </a:pPr>
            <a:r>
              <a:rPr lang="en-US" b="true" sz="3500">
                <a:solidFill>
                  <a:srgbClr val="262A41"/>
                </a:solidFill>
                <a:latin typeface="Canva Sans Bold"/>
                <a:ea typeface="Canva Sans Bold"/>
                <a:cs typeface="Canva Sans Bold"/>
                <a:sym typeface="Canva Sans Bold"/>
              </a:rPr>
              <a:t>Look at the middle element.</a:t>
            </a:r>
          </a:p>
          <a:p>
            <a:pPr algn="l" marL="755659" indent="-377829" lvl="1">
              <a:lnSpc>
                <a:spcPts val="4900"/>
              </a:lnSpc>
              <a:buAutoNum type="arabicPeriod" startAt="1"/>
            </a:pPr>
            <a:r>
              <a:rPr lang="en-US" b="true" sz="3500">
                <a:solidFill>
                  <a:srgbClr val="262A41"/>
                </a:solidFill>
                <a:latin typeface="Canva Sans Bold"/>
                <a:ea typeface="Canva Sans Bold"/>
                <a:cs typeface="Canva Sans Bold"/>
                <a:sym typeface="Canva Sans Bold"/>
              </a:rPr>
              <a:t>If the middle element equals your target → Found!</a:t>
            </a:r>
          </a:p>
          <a:p>
            <a:pPr algn="l" marL="755659" indent="-377829" lvl="1">
              <a:lnSpc>
                <a:spcPts val="4900"/>
              </a:lnSpc>
              <a:buAutoNum type="arabicPeriod" startAt="1"/>
            </a:pPr>
            <a:r>
              <a:rPr lang="en-US" b="true" sz="3500">
                <a:solidFill>
                  <a:srgbClr val="262A41"/>
                </a:solidFill>
                <a:latin typeface="Canva Sans Bold"/>
                <a:ea typeface="Canva Sans Bold"/>
                <a:cs typeface="Canva Sans Bold"/>
                <a:sym typeface="Canva Sans Bold"/>
              </a:rPr>
              <a:t>If the target is smaller, search only the left half.</a:t>
            </a:r>
          </a:p>
          <a:p>
            <a:pPr algn="l" marL="755659" indent="-377829" lvl="1">
              <a:lnSpc>
                <a:spcPts val="4900"/>
              </a:lnSpc>
              <a:buAutoNum type="arabicPeriod" startAt="1"/>
            </a:pPr>
            <a:r>
              <a:rPr lang="en-US" b="true" sz="3500">
                <a:solidFill>
                  <a:srgbClr val="262A41"/>
                </a:solidFill>
                <a:latin typeface="Canva Sans Bold"/>
                <a:ea typeface="Canva Sans Bold"/>
                <a:cs typeface="Canva Sans Bold"/>
                <a:sym typeface="Canva Sans Bold"/>
              </a:rPr>
              <a:t>If the target is larger, search only the right half.</a:t>
            </a:r>
          </a:p>
          <a:p>
            <a:pPr algn="l" marL="755659" indent="-377829" lvl="1">
              <a:lnSpc>
                <a:spcPts val="4900"/>
              </a:lnSpc>
              <a:buAutoNum type="arabicPeriod" startAt="1"/>
            </a:pPr>
            <a:r>
              <a:rPr lang="en-US" b="true" sz="3500">
                <a:solidFill>
                  <a:srgbClr val="262A41"/>
                </a:solidFill>
                <a:latin typeface="Canva Sans Bold"/>
                <a:ea typeface="Canva Sans Bold"/>
                <a:cs typeface="Canva Sans Bold"/>
                <a:sym typeface="Canva Sans Bold"/>
              </a:rPr>
              <a:t>Repeat until the list can’t be divided anymore.</a:t>
            </a:r>
          </a:p>
          <a:p>
            <a:pPr algn="l">
              <a:lnSpc>
                <a:spcPts val="490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06360" y="388703"/>
            <a:ext cx="11970945" cy="1279995"/>
          </a:xfrm>
          <a:prstGeom prst="rect">
            <a:avLst/>
          </a:prstGeom>
        </p:spPr>
        <p:txBody>
          <a:bodyPr anchor="t" rtlCol="false" tIns="0" lIns="0" bIns="0" rIns="0">
            <a:spAutoFit/>
          </a:bodyPr>
          <a:lstStyle/>
          <a:p>
            <a:pPr algn="l">
              <a:lnSpc>
                <a:spcPts val="10129"/>
              </a:lnSpc>
            </a:pPr>
            <a:r>
              <a:rPr lang="en-US" sz="8441">
                <a:solidFill>
                  <a:srgbClr val="262A41"/>
                </a:solidFill>
                <a:latin typeface="Anton"/>
                <a:ea typeface="Anton"/>
                <a:cs typeface="Anton"/>
                <a:sym typeface="Anton"/>
              </a:rPr>
              <a:t>Binary Search</a:t>
            </a:r>
          </a:p>
        </p:txBody>
      </p:sp>
      <p:sp>
        <p:nvSpPr>
          <p:cNvPr name="Freeform 3" id="3"/>
          <p:cNvSpPr/>
          <p:nvPr/>
        </p:nvSpPr>
        <p:spPr>
          <a:xfrm flipH="false" flipV="false" rot="0">
            <a:off x="10913277" y="-7340906"/>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3067" y="4706742"/>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913277" y="1633347"/>
            <a:ext cx="9570631" cy="7624953"/>
          </a:xfrm>
          <a:prstGeom prst="rect">
            <a:avLst/>
          </a:prstGeom>
        </p:spPr>
        <p:txBody>
          <a:bodyPr anchor="t" rtlCol="false" tIns="0" lIns="0" bIns="0" rIns="0">
            <a:spAutoFit/>
          </a:bodyPr>
          <a:lstStyle/>
          <a:p>
            <a:pPr algn="l">
              <a:lnSpc>
                <a:spcPts val="6769"/>
              </a:lnSpc>
            </a:pPr>
            <a:r>
              <a:rPr lang="en-US" sz="4835" b="true">
                <a:solidFill>
                  <a:srgbClr val="262A41"/>
                </a:solidFill>
                <a:latin typeface="Canva Sans Bold"/>
                <a:ea typeface="Canva Sans Bold"/>
                <a:cs typeface="Canva Sans Bold"/>
                <a:sym typeface="Canva Sans Bold"/>
              </a:rPr>
              <a:t>Example dataset:  </a:t>
            </a:r>
          </a:p>
          <a:p>
            <a:pPr algn="l">
              <a:lnSpc>
                <a:spcPts val="6769"/>
              </a:lnSpc>
            </a:pPr>
            <a:r>
              <a:rPr lang="en-US" sz="4835" b="true">
                <a:solidFill>
                  <a:srgbClr val="262A41"/>
                </a:solidFill>
                <a:latin typeface="Canva Sans Bold"/>
                <a:ea typeface="Canva Sans Bold"/>
                <a:cs typeface="Canva Sans Bold"/>
                <a:sym typeface="Canva Sans Bold"/>
              </a:rPr>
              <a:t>Bob: Decile 2  </a:t>
            </a:r>
          </a:p>
          <a:p>
            <a:pPr algn="l">
              <a:lnSpc>
                <a:spcPts val="6769"/>
              </a:lnSpc>
            </a:pPr>
            <a:r>
              <a:rPr lang="en-US" sz="4835" b="true">
                <a:solidFill>
                  <a:srgbClr val="262A41"/>
                </a:solidFill>
                <a:latin typeface="Canva Sans Bold"/>
                <a:ea typeface="Canva Sans Bold"/>
                <a:cs typeface="Canva Sans Bold"/>
                <a:sym typeface="Canva Sans Bold"/>
              </a:rPr>
              <a:t>Grace: Decile 6  </a:t>
            </a:r>
          </a:p>
          <a:p>
            <a:pPr algn="l">
              <a:lnSpc>
                <a:spcPts val="6769"/>
              </a:lnSpc>
            </a:pPr>
            <a:r>
              <a:rPr lang="en-US" sz="4835" b="true">
                <a:solidFill>
                  <a:srgbClr val="262A41"/>
                </a:solidFill>
                <a:latin typeface="Canva Sans Bold"/>
                <a:ea typeface="Canva Sans Bold"/>
                <a:cs typeface="Canva Sans Bold"/>
                <a:sym typeface="Canva Sans Bold"/>
              </a:rPr>
              <a:t>Carmen: Decile 9 </a:t>
            </a:r>
          </a:p>
          <a:p>
            <a:pPr algn="l">
              <a:lnSpc>
                <a:spcPts val="6769"/>
              </a:lnSpc>
            </a:pPr>
            <a:r>
              <a:rPr lang="en-US" sz="4835" b="true">
                <a:solidFill>
                  <a:srgbClr val="262A41"/>
                </a:solidFill>
                <a:latin typeface="Canva Sans Bold"/>
                <a:ea typeface="Canva Sans Bold"/>
                <a:cs typeface="Canva Sans Bold"/>
                <a:sym typeface="Canva Sans Bold"/>
              </a:rPr>
              <a:t>David: Decile 14 </a:t>
            </a:r>
          </a:p>
          <a:p>
            <a:pPr algn="l">
              <a:lnSpc>
                <a:spcPts val="6769"/>
              </a:lnSpc>
            </a:pPr>
            <a:r>
              <a:rPr lang="en-US" sz="4835" b="true">
                <a:solidFill>
                  <a:srgbClr val="262A41"/>
                </a:solidFill>
                <a:latin typeface="Canva Sans Bold"/>
                <a:ea typeface="Canva Sans Bold"/>
                <a:cs typeface="Canva Sans Bold"/>
                <a:sym typeface="Canva Sans Bold"/>
              </a:rPr>
              <a:t>Alice: Decile 18</a:t>
            </a:r>
          </a:p>
          <a:p>
            <a:pPr algn="l">
              <a:lnSpc>
                <a:spcPts val="6769"/>
              </a:lnSpc>
            </a:pPr>
            <a:r>
              <a:rPr lang="en-US" sz="4835" b="true">
                <a:solidFill>
                  <a:srgbClr val="262A41"/>
                </a:solidFill>
                <a:latin typeface="Canva Sans Bold"/>
                <a:ea typeface="Canva Sans Bold"/>
                <a:cs typeface="Canva Sans Bold"/>
                <a:sym typeface="Canva Sans Bold"/>
              </a:rPr>
              <a:t> Ella: Decile 27 </a:t>
            </a:r>
          </a:p>
          <a:p>
            <a:pPr algn="l">
              <a:lnSpc>
                <a:spcPts val="6769"/>
              </a:lnSpc>
            </a:pPr>
            <a:r>
              <a:rPr lang="en-US" sz="4835" b="true">
                <a:solidFill>
                  <a:srgbClr val="262A41"/>
                </a:solidFill>
                <a:latin typeface="Canva Sans Bold"/>
                <a:ea typeface="Canva Sans Bold"/>
                <a:cs typeface="Canva Sans Bold"/>
                <a:sym typeface="Canva Sans Bold"/>
              </a:rPr>
              <a:t>Fred: Decile 31 </a:t>
            </a:r>
          </a:p>
          <a:p>
            <a:pPr algn="l">
              <a:lnSpc>
                <a:spcPts val="6769"/>
              </a:lnSpc>
            </a:pPr>
            <a:r>
              <a:rPr lang="en-US" sz="4835" b="true">
                <a:solidFill>
                  <a:srgbClr val="262A41"/>
                </a:solidFill>
                <a:latin typeface="Canva Sans Bold"/>
                <a:ea typeface="Canva Sans Bold"/>
                <a:cs typeface="Canva Sans Bold"/>
                <a:sym typeface="Canva Sans Bold"/>
              </a:rPr>
              <a:t>Hank: Decile 35</a:t>
            </a:r>
          </a:p>
        </p:txBody>
      </p:sp>
      <p:sp>
        <p:nvSpPr>
          <p:cNvPr name="TextBox 6" id="6"/>
          <p:cNvSpPr txBox="true"/>
          <p:nvPr/>
        </p:nvSpPr>
        <p:spPr>
          <a:xfrm rot="0">
            <a:off x="406360" y="3140139"/>
            <a:ext cx="9508831" cy="4573268"/>
          </a:xfrm>
          <a:prstGeom prst="rect">
            <a:avLst/>
          </a:prstGeom>
        </p:spPr>
        <p:txBody>
          <a:bodyPr anchor="t" rtlCol="false" tIns="0" lIns="0" bIns="0" rIns="0">
            <a:spAutoFit/>
          </a:bodyPr>
          <a:lstStyle/>
          <a:p>
            <a:pPr algn="ctr">
              <a:lnSpc>
                <a:spcPts val="9106"/>
              </a:lnSpc>
            </a:pPr>
            <a:r>
              <a:rPr lang="en-US" sz="6504">
                <a:solidFill>
                  <a:srgbClr val="262A41"/>
                </a:solidFill>
                <a:latin typeface="Canva Sans"/>
                <a:ea typeface="Canva Sans"/>
                <a:cs typeface="Canva Sans"/>
                <a:sym typeface="Canva Sans"/>
              </a:rPr>
              <a:t>How would you use binary search to find the person with a score of 18?</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06360" y="504825"/>
            <a:ext cx="11970945" cy="1057275"/>
          </a:xfrm>
          <a:prstGeom prst="rect">
            <a:avLst/>
          </a:prstGeom>
        </p:spPr>
        <p:txBody>
          <a:bodyPr anchor="t" rtlCol="false" tIns="0" lIns="0" bIns="0" rIns="0">
            <a:spAutoFit/>
          </a:bodyPr>
          <a:lstStyle/>
          <a:p>
            <a:pPr algn="l">
              <a:lnSpc>
                <a:spcPts val="8449"/>
              </a:lnSpc>
            </a:pPr>
            <a:r>
              <a:rPr lang="en-US" sz="7041">
                <a:solidFill>
                  <a:srgbClr val="262A41"/>
                </a:solidFill>
                <a:latin typeface="Anton"/>
                <a:ea typeface="Anton"/>
                <a:cs typeface="Anton"/>
                <a:sym typeface="Anton"/>
              </a:rPr>
              <a:t>Binary Search</a:t>
            </a:r>
          </a:p>
        </p:txBody>
      </p:sp>
      <p:sp>
        <p:nvSpPr>
          <p:cNvPr name="Freeform 3" id="3"/>
          <p:cNvSpPr/>
          <p:nvPr/>
        </p:nvSpPr>
        <p:spPr>
          <a:xfrm flipH="false" flipV="false" rot="0">
            <a:off x="10913277" y="-7340906"/>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3067" y="4706742"/>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3214913" y="409575"/>
            <a:ext cx="8874980" cy="7076957"/>
          </a:xfrm>
          <a:prstGeom prst="rect">
            <a:avLst/>
          </a:prstGeom>
        </p:spPr>
        <p:txBody>
          <a:bodyPr anchor="t" rtlCol="false" tIns="0" lIns="0" bIns="0" rIns="0">
            <a:spAutoFit/>
          </a:bodyPr>
          <a:lstStyle/>
          <a:p>
            <a:pPr algn="l">
              <a:lnSpc>
                <a:spcPts val="6277"/>
              </a:lnSpc>
            </a:pPr>
            <a:r>
              <a:rPr lang="en-US" sz="4483" b="true">
                <a:solidFill>
                  <a:srgbClr val="262A41"/>
                </a:solidFill>
                <a:latin typeface="Canva Sans Bold"/>
                <a:ea typeface="Canva Sans Bold"/>
                <a:cs typeface="Canva Sans Bold"/>
                <a:sym typeface="Canva Sans Bold"/>
              </a:rPr>
              <a:t>Example dataset:  </a:t>
            </a:r>
          </a:p>
          <a:p>
            <a:pPr algn="l">
              <a:lnSpc>
                <a:spcPts val="6277"/>
              </a:lnSpc>
            </a:pPr>
            <a:r>
              <a:rPr lang="en-US" sz="4483" b="true">
                <a:solidFill>
                  <a:srgbClr val="262A41"/>
                </a:solidFill>
                <a:latin typeface="Canva Sans Bold"/>
                <a:ea typeface="Canva Sans Bold"/>
                <a:cs typeface="Canva Sans Bold"/>
                <a:sym typeface="Canva Sans Bold"/>
              </a:rPr>
              <a:t>Bob: Decile 2  </a:t>
            </a:r>
          </a:p>
          <a:p>
            <a:pPr algn="l">
              <a:lnSpc>
                <a:spcPts val="6277"/>
              </a:lnSpc>
            </a:pPr>
            <a:r>
              <a:rPr lang="en-US" sz="4483" b="true">
                <a:solidFill>
                  <a:srgbClr val="262A41"/>
                </a:solidFill>
                <a:latin typeface="Canva Sans Bold"/>
                <a:ea typeface="Canva Sans Bold"/>
                <a:cs typeface="Canva Sans Bold"/>
                <a:sym typeface="Canva Sans Bold"/>
              </a:rPr>
              <a:t>Grace: Decile 6  </a:t>
            </a:r>
          </a:p>
          <a:p>
            <a:pPr algn="l">
              <a:lnSpc>
                <a:spcPts val="6277"/>
              </a:lnSpc>
            </a:pPr>
            <a:r>
              <a:rPr lang="en-US" sz="4483" b="true">
                <a:solidFill>
                  <a:srgbClr val="262A41"/>
                </a:solidFill>
                <a:latin typeface="Canva Sans Bold"/>
                <a:ea typeface="Canva Sans Bold"/>
                <a:cs typeface="Canva Sans Bold"/>
                <a:sym typeface="Canva Sans Bold"/>
              </a:rPr>
              <a:t>Carmen: Decile 9 </a:t>
            </a:r>
          </a:p>
          <a:p>
            <a:pPr algn="l">
              <a:lnSpc>
                <a:spcPts val="6277"/>
              </a:lnSpc>
            </a:pPr>
            <a:r>
              <a:rPr lang="en-US" sz="4483" b="true">
                <a:solidFill>
                  <a:srgbClr val="262A41"/>
                </a:solidFill>
                <a:latin typeface="Canva Sans Bold"/>
                <a:ea typeface="Canva Sans Bold"/>
                <a:cs typeface="Canva Sans Bold"/>
                <a:sym typeface="Canva Sans Bold"/>
              </a:rPr>
              <a:t>David: Decile 14 </a:t>
            </a:r>
          </a:p>
          <a:p>
            <a:pPr algn="l">
              <a:lnSpc>
                <a:spcPts val="6277"/>
              </a:lnSpc>
            </a:pPr>
            <a:r>
              <a:rPr lang="en-US" sz="4483" b="true">
                <a:solidFill>
                  <a:srgbClr val="262A41"/>
                </a:solidFill>
                <a:latin typeface="Canva Sans Bold"/>
                <a:ea typeface="Canva Sans Bold"/>
                <a:cs typeface="Canva Sans Bold"/>
                <a:sym typeface="Canva Sans Bold"/>
              </a:rPr>
              <a:t>Alice: Decile 18</a:t>
            </a:r>
          </a:p>
          <a:p>
            <a:pPr algn="l">
              <a:lnSpc>
                <a:spcPts val="6277"/>
              </a:lnSpc>
            </a:pPr>
            <a:r>
              <a:rPr lang="en-US" sz="4483" b="true">
                <a:solidFill>
                  <a:srgbClr val="262A41"/>
                </a:solidFill>
                <a:latin typeface="Canva Sans Bold"/>
                <a:ea typeface="Canva Sans Bold"/>
                <a:cs typeface="Canva Sans Bold"/>
                <a:sym typeface="Canva Sans Bold"/>
              </a:rPr>
              <a:t> Ella: Decile 27 </a:t>
            </a:r>
          </a:p>
          <a:p>
            <a:pPr algn="l">
              <a:lnSpc>
                <a:spcPts val="6277"/>
              </a:lnSpc>
            </a:pPr>
            <a:r>
              <a:rPr lang="en-US" sz="4483" b="true">
                <a:solidFill>
                  <a:srgbClr val="262A41"/>
                </a:solidFill>
                <a:latin typeface="Canva Sans Bold"/>
                <a:ea typeface="Canva Sans Bold"/>
                <a:cs typeface="Canva Sans Bold"/>
                <a:sym typeface="Canva Sans Bold"/>
              </a:rPr>
              <a:t>Fred: Decile 31 </a:t>
            </a:r>
          </a:p>
          <a:p>
            <a:pPr algn="l">
              <a:lnSpc>
                <a:spcPts val="6277"/>
              </a:lnSpc>
            </a:pPr>
            <a:r>
              <a:rPr lang="en-US" sz="4483" b="true">
                <a:solidFill>
                  <a:srgbClr val="262A41"/>
                </a:solidFill>
                <a:latin typeface="Canva Sans Bold"/>
                <a:ea typeface="Canva Sans Bold"/>
                <a:cs typeface="Canva Sans Bold"/>
                <a:sym typeface="Canva Sans Bold"/>
              </a:rPr>
              <a:t>Hank: Decile 35</a:t>
            </a:r>
          </a:p>
        </p:txBody>
      </p:sp>
      <p:sp>
        <p:nvSpPr>
          <p:cNvPr name="TextBox 6" id="6"/>
          <p:cNvSpPr txBox="true"/>
          <p:nvPr/>
        </p:nvSpPr>
        <p:spPr>
          <a:xfrm rot="0">
            <a:off x="149383" y="1485900"/>
            <a:ext cx="12634705" cy="7934959"/>
          </a:xfrm>
          <a:prstGeom prst="rect">
            <a:avLst/>
          </a:prstGeom>
        </p:spPr>
        <p:txBody>
          <a:bodyPr anchor="t" rtlCol="false" tIns="0" lIns="0" bIns="0" rIns="0">
            <a:spAutoFit/>
          </a:bodyPr>
          <a:lstStyle/>
          <a:p>
            <a:pPr algn="l">
              <a:lnSpc>
                <a:spcPts val="5740"/>
              </a:lnSpc>
            </a:pPr>
            <a:r>
              <a:rPr lang="en-US" sz="4100" b="true">
                <a:solidFill>
                  <a:srgbClr val="262A41"/>
                </a:solidFill>
                <a:latin typeface="Canva Sans Bold"/>
                <a:ea typeface="Canva Sans Bold"/>
                <a:cs typeface="Canva Sans Bold"/>
                <a:sym typeface="Canva Sans Bold"/>
              </a:rPr>
              <a:t>Target Element: 18</a:t>
            </a:r>
          </a:p>
          <a:p>
            <a:pPr algn="l">
              <a:lnSpc>
                <a:spcPts val="5740"/>
              </a:lnSpc>
            </a:pPr>
            <a:r>
              <a:rPr lang="en-US" sz="4100" b="true">
                <a:solidFill>
                  <a:srgbClr val="262A41"/>
                </a:solidFill>
                <a:latin typeface="Canva Sans Bold"/>
                <a:ea typeface="Canva Sans Bold"/>
                <a:cs typeface="Canva Sans Bold"/>
                <a:sym typeface="Canva Sans Bold"/>
              </a:rPr>
              <a:t>•[2, 6, 9, 14, 18, 27, 31, 35] </a:t>
            </a:r>
          </a:p>
          <a:p>
            <a:pPr algn="l">
              <a:lnSpc>
                <a:spcPts val="5740"/>
              </a:lnSpc>
            </a:pPr>
            <a:r>
              <a:rPr lang="en-US" sz="4100" b="true">
                <a:solidFill>
                  <a:srgbClr val="262A41"/>
                </a:solidFill>
                <a:latin typeface="Canva Sans Bold"/>
                <a:ea typeface="Canva Sans Bold"/>
                <a:cs typeface="Canva Sans Bold"/>
                <a:sym typeface="Canva Sans Bold"/>
              </a:rPr>
              <a:t>The middle element is 14, and since 18 is greater than 14, you will search the </a:t>
            </a:r>
            <a:r>
              <a:rPr lang="en-US" sz="4100" i="true" b="true">
                <a:solidFill>
                  <a:srgbClr val="262A41"/>
                </a:solidFill>
                <a:latin typeface="Canva Sans Bold Italics"/>
                <a:ea typeface="Canva Sans Bold Italics"/>
                <a:cs typeface="Canva Sans Bold Italics"/>
                <a:sym typeface="Canva Sans Bold Italics"/>
              </a:rPr>
              <a:t>right half</a:t>
            </a:r>
            <a:r>
              <a:rPr lang="en-US" sz="4100" b="true">
                <a:solidFill>
                  <a:srgbClr val="262A41"/>
                </a:solidFill>
                <a:latin typeface="Canva Sans Bold"/>
                <a:ea typeface="Canva Sans Bold"/>
                <a:cs typeface="Canva Sans Bold"/>
                <a:sym typeface="Canva Sans Bold"/>
              </a:rPr>
              <a:t> of the list. </a:t>
            </a:r>
          </a:p>
          <a:p>
            <a:pPr algn="l">
              <a:lnSpc>
                <a:spcPts val="5740"/>
              </a:lnSpc>
            </a:pPr>
            <a:r>
              <a:rPr lang="en-US" sz="4100" b="true">
                <a:solidFill>
                  <a:srgbClr val="262A41"/>
                </a:solidFill>
                <a:latin typeface="Canva Sans Bold"/>
                <a:ea typeface="Canva Sans Bold"/>
                <a:cs typeface="Canva Sans Bold"/>
                <a:sym typeface="Canva Sans Bold"/>
              </a:rPr>
              <a:t>•[18, 27, 31, 35] </a:t>
            </a:r>
          </a:p>
          <a:p>
            <a:pPr algn="l">
              <a:lnSpc>
                <a:spcPts val="5740"/>
              </a:lnSpc>
            </a:pPr>
            <a:r>
              <a:rPr lang="en-US" sz="4100" b="true">
                <a:solidFill>
                  <a:srgbClr val="262A41"/>
                </a:solidFill>
                <a:latin typeface="Canva Sans Bold"/>
                <a:ea typeface="Canva Sans Bold"/>
                <a:cs typeface="Canva Sans Bold"/>
                <a:sym typeface="Canva Sans Bold"/>
              </a:rPr>
              <a:t>The middle element is 27, and since 18 is smaller than 27, search the </a:t>
            </a:r>
            <a:r>
              <a:rPr lang="en-US" sz="4100" i="true" b="true">
                <a:solidFill>
                  <a:srgbClr val="262A41"/>
                </a:solidFill>
                <a:latin typeface="Canva Sans Bold Italics"/>
                <a:ea typeface="Canva Sans Bold Italics"/>
                <a:cs typeface="Canva Sans Bold Italics"/>
                <a:sym typeface="Canva Sans Bold Italics"/>
              </a:rPr>
              <a:t>left half</a:t>
            </a:r>
            <a:r>
              <a:rPr lang="en-US" sz="4100" b="true">
                <a:solidFill>
                  <a:srgbClr val="262A41"/>
                </a:solidFill>
                <a:latin typeface="Canva Sans Bold"/>
                <a:ea typeface="Canva Sans Bold"/>
                <a:cs typeface="Canva Sans Bold"/>
                <a:sym typeface="Canva Sans Bold"/>
              </a:rPr>
              <a:t> of the list. </a:t>
            </a:r>
          </a:p>
          <a:p>
            <a:pPr algn="l">
              <a:lnSpc>
                <a:spcPts val="5740"/>
              </a:lnSpc>
            </a:pPr>
            <a:r>
              <a:rPr lang="en-US" sz="4100" b="true">
                <a:solidFill>
                  <a:srgbClr val="262A41"/>
                </a:solidFill>
                <a:latin typeface="Canva Sans Bold"/>
                <a:ea typeface="Canva Sans Bold"/>
                <a:cs typeface="Canva Sans Bold"/>
                <a:sym typeface="Canva Sans Bold"/>
              </a:rPr>
              <a:t>•[18] </a:t>
            </a:r>
          </a:p>
          <a:p>
            <a:pPr algn="l">
              <a:lnSpc>
                <a:spcPts val="5740"/>
              </a:lnSpc>
            </a:pPr>
            <a:r>
              <a:rPr lang="en-US" sz="4100" b="true">
                <a:solidFill>
                  <a:srgbClr val="262A41"/>
                </a:solidFill>
                <a:latin typeface="Canva Sans Bold"/>
                <a:ea typeface="Canva Sans Bold"/>
                <a:cs typeface="Canva Sans Bold"/>
                <a:sym typeface="Canva Sans Bold"/>
              </a:rPr>
              <a:t>The middle element is 18, and since this is your target, you can return Alice. </a:t>
            </a:r>
          </a:p>
          <a:p>
            <a:pPr algn="l">
              <a:lnSpc>
                <a:spcPts val="574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12346" y="785157"/>
            <a:ext cx="13132057" cy="1279995"/>
          </a:xfrm>
          <a:prstGeom prst="rect">
            <a:avLst/>
          </a:prstGeom>
        </p:spPr>
        <p:txBody>
          <a:bodyPr anchor="t" rtlCol="false" tIns="0" lIns="0" bIns="0" rIns="0">
            <a:spAutoFit/>
          </a:bodyPr>
          <a:lstStyle/>
          <a:p>
            <a:pPr algn="l">
              <a:lnSpc>
                <a:spcPts val="10129"/>
              </a:lnSpc>
            </a:pPr>
            <a:r>
              <a:rPr lang="en-US" sz="8441">
                <a:solidFill>
                  <a:srgbClr val="262A41"/>
                </a:solidFill>
                <a:latin typeface="Anton"/>
                <a:ea typeface="Anton"/>
                <a:cs typeface="Anton"/>
                <a:sym typeface="Anton"/>
              </a:rPr>
              <a:t>Birnary Search (Group Work)</a:t>
            </a:r>
          </a:p>
        </p:txBody>
      </p:sp>
      <p:sp>
        <p:nvSpPr>
          <p:cNvPr name="Freeform 3" id="3"/>
          <p:cNvSpPr/>
          <p:nvPr/>
        </p:nvSpPr>
        <p:spPr>
          <a:xfrm flipH="false" flipV="false" rot="0">
            <a:off x="10913277" y="-7340906"/>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93067" y="4706742"/>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49383" y="2401965"/>
            <a:ext cx="11298032" cy="7098678"/>
          </a:xfrm>
          <a:prstGeom prst="rect">
            <a:avLst/>
          </a:prstGeom>
        </p:spPr>
        <p:txBody>
          <a:bodyPr anchor="t" rtlCol="false" tIns="0" lIns="0" bIns="0" rIns="0">
            <a:spAutoFit/>
          </a:bodyPr>
          <a:lstStyle/>
          <a:p>
            <a:pPr algn="l">
              <a:lnSpc>
                <a:spcPts val="7045"/>
              </a:lnSpc>
            </a:pPr>
            <a:r>
              <a:rPr lang="en-US" sz="5032" b="true">
                <a:solidFill>
                  <a:srgbClr val="262A41"/>
                </a:solidFill>
                <a:latin typeface="Canva Sans Bold"/>
                <a:ea typeface="Canva Sans Bold"/>
                <a:cs typeface="Canva Sans Bold"/>
                <a:sym typeface="Canva Sans Bold"/>
              </a:rPr>
              <a:t>Practice List: </a:t>
            </a:r>
          </a:p>
          <a:p>
            <a:pPr algn="l" marL="1086518" indent="-543259" lvl="1">
              <a:lnSpc>
                <a:spcPts val="7045"/>
              </a:lnSpc>
              <a:buFont typeface="Arial"/>
              <a:buChar char="•"/>
            </a:pPr>
            <a:r>
              <a:rPr lang="en-US" b="true" sz="5032">
                <a:solidFill>
                  <a:srgbClr val="262A41"/>
                </a:solidFill>
                <a:latin typeface="Canva Sans Bold"/>
                <a:ea typeface="Canva Sans Bold"/>
                <a:cs typeface="Canva Sans Bold"/>
                <a:sym typeface="Canva Sans Bold"/>
              </a:rPr>
              <a:t>[Bob, Carmen, Mona, Alice,  Hank, Harry, Elsa] Target: 13</a:t>
            </a:r>
          </a:p>
          <a:p>
            <a:pPr algn="l" marL="1086518" indent="-543259" lvl="1">
              <a:lnSpc>
                <a:spcPts val="7045"/>
              </a:lnSpc>
              <a:buFont typeface="Arial"/>
              <a:buChar char="•"/>
            </a:pPr>
            <a:r>
              <a:rPr lang="en-US" b="true" sz="5032">
                <a:solidFill>
                  <a:srgbClr val="262A41"/>
                </a:solidFill>
                <a:latin typeface="Canva Sans Bold"/>
                <a:ea typeface="Canva Sans Bold"/>
                <a:cs typeface="Canva Sans Bold"/>
                <a:sym typeface="Canva Sans Bold"/>
              </a:rPr>
              <a:t>[Grace, Mona, Alice, Ella, Fred, Hank, Harry, Elsa] Target: 41</a:t>
            </a:r>
          </a:p>
          <a:p>
            <a:pPr algn="l" marL="1086518" indent="-543259" lvl="1">
              <a:lnSpc>
                <a:spcPts val="7045"/>
              </a:lnSpc>
              <a:buFont typeface="Arial"/>
              <a:buChar char="•"/>
            </a:pPr>
            <a:r>
              <a:rPr lang="en-US" b="true" sz="5032">
                <a:solidFill>
                  <a:srgbClr val="262A41"/>
                </a:solidFill>
                <a:latin typeface="Canva Sans Bold"/>
                <a:ea typeface="Canva Sans Bold"/>
                <a:cs typeface="Canva Sans Bold"/>
                <a:sym typeface="Canva Sans Bold"/>
              </a:rPr>
              <a:t>[Bob, Grace, Mona, David, Alice, Dream, Fred, Hank, Harry] Target: 48</a:t>
            </a:r>
          </a:p>
        </p:txBody>
      </p:sp>
      <p:sp>
        <p:nvSpPr>
          <p:cNvPr name="TextBox 6" id="6"/>
          <p:cNvSpPr txBox="true"/>
          <p:nvPr/>
        </p:nvSpPr>
        <p:spPr>
          <a:xfrm rot="0">
            <a:off x="14069848" y="117620"/>
            <a:ext cx="7900539" cy="9628133"/>
          </a:xfrm>
          <a:prstGeom prst="rect">
            <a:avLst/>
          </a:prstGeom>
        </p:spPr>
        <p:txBody>
          <a:bodyPr anchor="t" rtlCol="false" tIns="0" lIns="0" bIns="0" rIns="0">
            <a:spAutoFit/>
          </a:bodyPr>
          <a:lstStyle/>
          <a:p>
            <a:pPr algn="l">
              <a:lnSpc>
                <a:spcPts val="5868"/>
              </a:lnSpc>
            </a:pPr>
            <a:r>
              <a:rPr lang="en-US" sz="4191" b="true">
                <a:solidFill>
                  <a:srgbClr val="262A41"/>
                </a:solidFill>
                <a:latin typeface="Canva Sans Bold"/>
                <a:ea typeface="Canva Sans Bold"/>
                <a:cs typeface="Canva Sans Bold"/>
                <a:sym typeface="Canva Sans Bold"/>
              </a:rPr>
              <a:t>Dataset:  </a:t>
            </a:r>
          </a:p>
          <a:p>
            <a:pPr algn="l">
              <a:lnSpc>
                <a:spcPts val="5868"/>
              </a:lnSpc>
            </a:pPr>
            <a:r>
              <a:rPr lang="en-US" sz="4191" b="true">
                <a:solidFill>
                  <a:srgbClr val="262A41"/>
                </a:solidFill>
                <a:latin typeface="Canva Sans Bold"/>
                <a:ea typeface="Canva Sans Bold"/>
                <a:cs typeface="Canva Sans Bold"/>
                <a:sym typeface="Canva Sans Bold"/>
              </a:rPr>
              <a:t>Bob: 2  </a:t>
            </a:r>
          </a:p>
          <a:p>
            <a:pPr algn="l">
              <a:lnSpc>
                <a:spcPts val="5868"/>
              </a:lnSpc>
            </a:pPr>
            <a:r>
              <a:rPr lang="en-US" sz="4191" b="true">
                <a:solidFill>
                  <a:srgbClr val="262A41"/>
                </a:solidFill>
                <a:latin typeface="Canva Sans Bold"/>
                <a:ea typeface="Canva Sans Bold"/>
                <a:cs typeface="Canva Sans Bold"/>
                <a:sym typeface="Canva Sans Bold"/>
              </a:rPr>
              <a:t>Grace: 6  </a:t>
            </a:r>
          </a:p>
          <a:p>
            <a:pPr algn="l">
              <a:lnSpc>
                <a:spcPts val="5868"/>
              </a:lnSpc>
            </a:pPr>
            <a:r>
              <a:rPr lang="en-US" sz="4191" b="true">
                <a:solidFill>
                  <a:srgbClr val="262A41"/>
                </a:solidFill>
                <a:latin typeface="Canva Sans Bold"/>
                <a:ea typeface="Canva Sans Bold"/>
                <a:cs typeface="Canva Sans Bold"/>
                <a:sym typeface="Canva Sans Bold"/>
              </a:rPr>
              <a:t>Carmen: 9  </a:t>
            </a:r>
          </a:p>
          <a:p>
            <a:pPr algn="l">
              <a:lnSpc>
                <a:spcPts val="5868"/>
              </a:lnSpc>
            </a:pPr>
            <a:r>
              <a:rPr lang="en-US" sz="4191" b="true">
                <a:solidFill>
                  <a:srgbClr val="262A41"/>
                </a:solidFill>
                <a:latin typeface="Canva Sans Bold"/>
                <a:ea typeface="Canva Sans Bold"/>
                <a:cs typeface="Canva Sans Bold"/>
                <a:sym typeface="Canva Sans Bold"/>
              </a:rPr>
              <a:t>Mona: 13  </a:t>
            </a:r>
          </a:p>
          <a:p>
            <a:pPr algn="l">
              <a:lnSpc>
                <a:spcPts val="5868"/>
              </a:lnSpc>
            </a:pPr>
            <a:r>
              <a:rPr lang="en-US" sz="4191" b="true">
                <a:solidFill>
                  <a:srgbClr val="262A41"/>
                </a:solidFill>
                <a:latin typeface="Canva Sans Bold"/>
                <a:ea typeface="Canva Sans Bold"/>
                <a:cs typeface="Canva Sans Bold"/>
                <a:sym typeface="Canva Sans Bold"/>
              </a:rPr>
              <a:t>David: 14  </a:t>
            </a:r>
          </a:p>
          <a:p>
            <a:pPr algn="l">
              <a:lnSpc>
                <a:spcPts val="5868"/>
              </a:lnSpc>
            </a:pPr>
            <a:r>
              <a:rPr lang="en-US" sz="4191" b="true">
                <a:solidFill>
                  <a:srgbClr val="262A41"/>
                </a:solidFill>
                <a:latin typeface="Canva Sans Bold"/>
                <a:ea typeface="Canva Sans Bold"/>
                <a:cs typeface="Canva Sans Bold"/>
                <a:sym typeface="Canva Sans Bold"/>
              </a:rPr>
              <a:t>Alice: 18  </a:t>
            </a:r>
          </a:p>
          <a:p>
            <a:pPr algn="l">
              <a:lnSpc>
                <a:spcPts val="5868"/>
              </a:lnSpc>
            </a:pPr>
            <a:r>
              <a:rPr lang="en-US" sz="4191" b="true">
                <a:solidFill>
                  <a:srgbClr val="262A41"/>
                </a:solidFill>
                <a:latin typeface="Canva Sans Bold"/>
                <a:ea typeface="Canva Sans Bold"/>
                <a:cs typeface="Canva Sans Bold"/>
                <a:sym typeface="Canva Sans Bold"/>
              </a:rPr>
              <a:t>Ella: 27  </a:t>
            </a:r>
          </a:p>
          <a:p>
            <a:pPr algn="l">
              <a:lnSpc>
                <a:spcPts val="5868"/>
              </a:lnSpc>
            </a:pPr>
            <a:r>
              <a:rPr lang="en-US" sz="4191" b="true">
                <a:solidFill>
                  <a:srgbClr val="262A41"/>
                </a:solidFill>
                <a:latin typeface="Canva Sans Bold"/>
                <a:ea typeface="Canva Sans Bold"/>
                <a:cs typeface="Canva Sans Bold"/>
                <a:sym typeface="Canva Sans Bold"/>
              </a:rPr>
              <a:t>D</a:t>
            </a:r>
            <a:r>
              <a:rPr lang="en-US" sz="4191" b="true">
                <a:solidFill>
                  <a:srgbClr val="262A41"/>
                </a:solidFill>
                <a:latin typeface="Canva Sans Bold"/>
                <a:ea typeface="Canva Sans Bold"/>
                <a:cs typeface="Canva Sans Bold"/>
                <a:sym typeface="Canva Sans Bold"/>
              </a:rPr>
              <a:t>ream: 29  </a:t>
            </a:r>
          </a:p>
          <a:p>
            <a:pPr algn="l">
              <a:lnSpc>
                <a:spcPts val="5868"/>
              </a:lnSpc>
            </a:pPr>
            <a:r>
              <a:rPr lang="en-US" sz="4191" b="true">
                <a:solidFill>
                  <a:srgbClr val="262A41"/>
                </a:solidFill>
                <a:latin typeface="Canva Sans Bold"/>
                <a:ea typeface="Canva Sans Bold"/>
                <a:cs typeface="Canva Sans Bold"/>
                <a:sym typeface="Canva Sans Bold"/>
              </a:rPr>
              <a:t>F</a:t>
            </a:r>
            <a:r>
              <a:rPr lang="en-US" sz="4191" b="true">
                <a:solidFill>
                  <a:srgbClr val="262A41"/>
                </a:solidFill>
                <a:latin typeface="Canva Sans Bold"/>
                <a:ea typeface="Canva Sans Bold"/>
                <a:cs typeface="Canva Sans Bold"/>
                <a:sym typeface="Canva Sans Bold"/>
              </a:rPr>
              <a:t>red: 31  </a:t>
            </a:r>
          </a:p>
          <a:p>
            <a:pPr algn="l">
              <a:lnSpc>
                <a:spcPts val="5868"/>
              </a:lnSpc>
            </a:pPr>
            <a:r>
              <a:rPr lang="en-US" sz="4191" b="true">
                <a:solidFill>
                  <a:srgbClr val="262A41"/>
                </a:solidFill>
                <a:latin typeface="Canva Sans Bold"/>
                <a:ea typeface="Canva Sans Bold"/>
                <a:cs typeface="Canva Sans Bold"/>
                <a:sym typeface="Canva Sans Bold"/>
              </a:rPr>
              <a:t>Hank: 35  </a:t>
            </a:r>
          </a:p>
          <a:p>
            <a:pPr algn="l">
              <a:lnSpc>
                <a:spcPts val="5868"/>
              </a:lnSpc>
            </a:pPr>
            <a:r>
              <a:rPr lang="en-US" sz="4191" b="true">
                <a:solidFill>
                  <a:srgbClr val="262A41"/>
                </a:solidFill>
                <a:latin typeface="Canva Sans Bold"/>
                <a:ea typeface="Canva Sans Bold"/>
                <a:cs typeface="Canva Sans Bold"/>
                <a:sym typeface="Canva Sans Bold"/>
              </a:rPr>
              <a:t>Harry: 48  </a:t>
            </a:r>
          </a:p>
          <a:p>
            <a:pPr algn="l">
              <a:lnSpc>
                <a:spcPts val="5862"/>
              </a:lnSpc>
            </a:pPr>
            <a:r>
              <a:rPr lang="en-US" sz="4187" b="true">
                <a:solidFill>
                  <a:srgbClr val="262A41"/>
                </a:solidFill>
                <a:latin typeface="Canva Sans Bold"/>
                <a:ea typeface="Canva Sans Bold"/>
                <a:cs typeface="Canva Sans Bold"/>
                <a:sym typeface="Canva Sans Bold"/>
              </a:rPr>
              <a:t>Elsa: 51</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137322" y="-7448944"/>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013861" y="2008039"/>
            <a:ext cx="12484900" cy="10010620"/>
          </a:xfrm>
          <a:custGeom>
            <a:avLst/>
            <a:gdLst/>
            <a:ahLst/>
            <a:cxnLst/>
            <a:rect r="r" b="b" t="t" l="l"/>
            <a:pathLst>
              <a:path h="10010620" w="12484900">
                <a:moveTo>
                  <a:pt x="0" y="0"/>
                </a:moveTo>
                <a:lnTo>
                  <a:pt x="12484900" y="0"/>
                </a:lnTo>
                <a:lnTo>
                  <a:pt x="12484900" y="10010620"/>
                </a:lnTo>
                <a:lnTo>
                  <a:pt x="0" y="1001062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158528" y="4024312"/>
            <a:ext cx="11970945" cy="2238375"/>
          </a:xfrm>
          <a:prstGeom prst="rect">
            <a:avLst/>
          </a:prstGeom>
        </p:spPr>
        <p:txBody>
          <a:bodyPr anchor="t" rtlCol="false" tIns="0" lIns="0" bIns="0" rIns="0">
            <a:spAutoFit/>
          </a:bodyPr>
          <a:lstStyle/>
          <a:p>
            <a:pPr algn="ctr">
              <a:lnSpc>
                <a:spcPts val="17687"/>
              </a:lnSpc>
            </a:pPr>
            <a:r>
              <a:rPr lang="en-US" sz="14739">
                <a:solidFill>
                  <a:srgbClr val="262A41"/>
                </a:solidFill>
                <a:latin typeface="Anton"/>
                <a:ea typeface="Anton"/>
                <a:cs typeface="Anton"/>
                <a:sym typeface="Anton"/>
              </a:rPr>
              <a:t>Homework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DAG3GZHKiC4</dc:identifier>
  <dcterms:modified xsi:type="dcterms:W3CDTF">2011-08-01T06:04:30Z</dcterms:modified>
  <cp:revision>1</cp:revision>
  <dc:title>Divide and Conquer (Introduction)</dc:title>
</cp:coreProperties>
</file>